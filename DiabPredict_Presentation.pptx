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dfb93824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dfb93824e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7AD"/>
            </a:gs>
            <a:gs pos="100000">
              <a:srgbClr val="FFA9F9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109371" y="491586"/>
            <a:ext cx="4508895" cy="1074229"/>
          </a:xfrm>
          <a:custGeom>
            <a:rect b="b" l="l" r="r" t="t"/>
            <a:pathLst>
              <a:path extrusionOk="0" h="1074229" w="4508895">
                <a:moveTo>
                  <a:pt x="0" y="0"/>
                </a:moveTo>
                <a:lnTo>
                  <a:pt x="4508895" y="0"/>
                </a:lnTo>
                <a:lnTo>
                  <a:pt x="4508895" y="1074228"/>
                </a:lnTo>
                <a:lnTo>
                  <a:pt x="0" y="1074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321255" y="269322"/>
            <a:ext cx="3362961" cy="1518756"/>
          </a:xfrm>
          <a:custGeom>
            <a:rect b="b" l="l" r="r" t="t"/>
            <a:pathLst>
              <a:path extrusionOk="0" h="1518756" w="3362961">
                <a:moveTo>
                  <a:pt x="0" y="0"/>
                </a:moveTo>
                <a:lnTo>
                  <a:pt x="3362961" y="0"/>
                </a:lnTo>
                <a:lnTo>
                  <a:pt x="3362961" y="1518756"/>
                </a:lnTo>
                <a:lnTo>
                  <a:pt x="0" y="1518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>
            <a:off x="741494" y="2703779"/>
            <a:ext cx="17546506" cy="608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284B71"/>
                </a:solidFill>
                <a:latin typeface="Arial"/>
                <a:ea typeface="Arial"/>
                <a:cs typeface="Arial"/>
                <a:sym typeface="Arial"/>
              </a:rPr>
              <a:t>AI/ML Hackathon 2026</a:t>
            </a:r>
            <a:endParaRPr/>
          </a:p>
          <a:p>
            <a:pPr indent="0" lvl="0" marL="0" marR="0" rtl="0" algn="l">
              <a:lnSpc>
                <a:spcPct val="9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99" u="none" cap="none" strike="noStrike">
              <a:solidFill>
                <a:srgbClr val="284B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r>
              <a:rPr b="1" i="0" lang="en-US" sz="14400" u="none" cap="none" strike="noStrik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 xml:space="preserve">. </a:t>
            </a:r>
            <a:r>
              <a:rPr b="1" i="0" lang="en-US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</a:t>
            </a:r>
            <a:r>
              <a:rPr b="1" i="0" lang="en-US" sz="14400" u="none" cap="none" strike="noStrik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Present</a:t>
            </a:r>
            <a:r>
              <a:rPr b="1" i="0" lang="en-US" sz="14400" u="none" cap="none" strike="noStrike">
                <a:solidFill>
                  <a:srgbClr val="ED32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33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400" u="none" cap="none" strike="noStrike">
              <a:solidFill>
                <a:srgbClr val="ED32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FEA928"/>
                </a:solidFill>
                <a:latin typeface="Arial"/>
                <a:ea typeface="Arial"/>
                <a:cs typeface="Arial"/>
                <a:sym typeface="Arial"/>
              </a:rPr>
              <a:t>Diabetes Prediction using Machine Learning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99" u="none" cap="none" strike="noStrike">
              <a:solidFill>
                <a:srgbClr val="FEA92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92" name="Google Shape;92;p14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3" name="Google Shape;93;p14"/>
          <p:cNvGrpSpPr/>
          <p:nvPr/>
        </p:nvGrpSpPr>
        <p:grpSpPr>
          <a:xfrm>
            <a:off x="1113756" y="3530943"/>
            <a:ext cx="4439121" cy="1721385"/>
            <a:chOff x="0" y="0"/>
            <a:chExt cx="1169151" cy="453369"/>
          </a:xfrm>
        </p:grpSpPr>
        <p:sp>
          <p:nvSpPr>
            <p:cNvPr id="94" name="Google Shape;94;p14"/>
            <p:cNvSpPr/>
            <p:nvPr/>
          </p:nvSpPr>
          <p:spPr>
            <a:xfrm>
              <a:off x="0" y="0"/>
              <a:ext cx="1169151" cy="453369"/>
            </a:xfrm>
            <a:custGeom>
              <a:rect b="b" l="l" r="r" t="t"/>
              <a:pathLst>
                <a:path extrusionOk="0" h="453369" w="1169151">
                  <a:moveTo>
                    <a:pt x="88945" y="0"/>
                  </a:moveTo>
                  <a:lnTo>
                    <a:pt x="1080206" y="0"/>
                  </a:lnTo>
                  <a:cubicBezTo>
                    <a:pt x="1103796" y="0"/>
                    <a:pt x="1126419" y="9371"/>
                    <a:pt x="1143100" y="26051"/>
                  </a:cubicBezTo>
                  <a:cubicBezTo>
                    <a:pt x="1159780" y="42732"/>
                    <a:pt x="1169151" y="65355"/>
                    <a:pt x="1169151" y="88945"/>
                  </a:cubicBezTo>
                  <a:lnTo>
                    <a:pt x="1169151" y="364424"/>
                  </a:lnTo>
                  <a:cubicBezTo>
                    <a:pt x="1169151" y="388013"/>
                    <a:pt x="1159780" y="410637"/>
                    <a:pt x="1143100" y="427317"/>
                  </a:cubicBezTo>
                  <a:cubicBezTo>
                    <a:pt x="1126419" y="443998"/>
                    <a:pt x="1103796" y="453369"/>
                    <a:pt x="1080206" y="453369"/>
                  </a:cubicBezTo>
                  <a:lnTo>
                    <a:pt x="88945" y="453369"/>
                  </a:lnTo>
                  <a:cubicBezTo>
                    <a:pt x="65355" y="453369"/>
                    <a:pt x="42732" y="443998"/>
                    <a:pt x="26051" y="427317"/>
                  </a:cubicBezTo>
                  <a:cubicBezTo>
                    <a:pt x="9371" y="410637"/>
                    <a:pt x="0" y="388013"/>
                    <a:pt x="0" y="364424"/>
                  </a:cubicBezTo>
                  <a:lnTo>
                    <a:pt x="0" y="88945"/>
                  </a:lnTo>
                  <a:cubicBezTo>
                    <a:pt x="0" y="65355"/>
                    <a:pt x="9371" y="42732"/>
                    <a:pt x="26051" y="26051"/>
                  </a:cubicBezTo>
                  <a:cubicBezTo>
                    <a:pt x="42732" y="9371"/>
                    <a:pt x="65355" y="0"/>
                    <a:pt x="88945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0" y="76200"/>
              <a:ext cx="1169151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Team Name</a:t>
              </a:r>
              <a:endParaRPr/>
            </a:p>
          </p:txBody>
        </p:sp>
      </p:grpSp>
      <p:sp>
        <p:nvSpPr>
          <p:cNvPr id="96" name="Google Shape;96;p14"/>
          <p:cNvSpPr txBox="1"/>
          <p:nvPr/>
        </p:nvSpPr>
        <p:spPr>
          <a:xfrm>
            <a:off x="1113756" y="1980779"/>
            <a:ext cx="6547670" cy="1350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  <a:r>
              <a:rPr b="1" i="0" lang="en-US" sz="7597" u="none" cap="none" strike="noStrik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 xml:space="preserve">. </a:t>
            </a:r>
            <a:endParaRPr/>
          </a:p>
          <a:p>
            <a:pPr indent="0" lvl="0" marL="0" marR="0" rtl="0" algn="l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97" u="none" cap="none" strike="noStrike">
              <a:solidFill>
                <a:srgbClr val="75BF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1113756" y="5454569"/>
            <a:ext cx="4439121" cy="1721385"/>
            <a:chOff x="0" y="0"/>
            <a:chExt cx="1169151" cy="453369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1169151" cy="453369"/>
            </a:xfrm>
            <a:custGeom>
              <a:rect b="b" l="l" r="r" t="t"/>
              <a:pathLst>
                <a:path extrusionOk="0" h="453369" w="1169151">
                  <a:moveTo>
                    <a:pt x="88945" y="0"/>
                  </a:moveTo>
                  <a:lnTo>
                    <a:pt x="1080206" y="0"/>
                  </a:lnTo>
                  <a:cubicBezTo>
                    <a:pt x="1103796" y="0"/>
                    <a:pt x="1126419" y="9371"/>
                    <a:pt x="1143100" y="26051"/>
                  </a:cubicBezTo>
                  <a:cubicBezTo>
                    <a:pt x="1159780" y="42732"/>
                    <a:pt x="1169151" y="65355"/>
                    <a:pt x="1169151" y="88945"/>
                  </a:cubicBezTo>
                  <a:lnTo>
                    <a:pt x="1169151" y="364424"/>
                  </a:lnTo>
                  <a:cubicBezTo>
                    <a:pt x="1169151" y="388013"/>
                    <a:pt x="1159780" y="410637"/>
                    <a:pt x="1143100" y="427317"/>
                  </a:cubicBezTo>
                  <a:cubicBezTo>
                    <a:pt x="1126419" y="443998"/>
                    <a:pt x="1103796" y="453369"/>
                    <a:pt x="1080206" y="453369"/>
                  </a:cubicBezTo>
                  <a:lnTo>
                    <a:pt x="88945" y="453369"/>
                  </a:lnTo>
                  <a:cubicBezTo>
                    <a:pt x="65355" y="453369"/>
                    <a:pt x="42732" y="443998"/>
                    <a:pt x="26051" y="427317"/>
                  </a:cubicBezTo>
                  <a:cubicBezTo>
                    <a:pt x="9371" y="410637"/>
                    <a:pt x="0" y="388013"/>
                    <a:pt x="0" y="364424"/>
                  </a:cubicBezTo>
                  <a:lnTo>
                    <a:pt x="0" y="88945"/>
                  </a:lnTo>
                  <a:cubicBezTo>
                    <a:pt x="0" y="65355"/>
                    <a:pt x="9371" y="42732"/>
                    <a:pt x="26051" y="26051"/>
                  </a:cubicBezTo>
                  <a:cubicBezTo>
                    <a:pt x="42732" y="9371"/>
                    <a:pt x="65355" y="0"/>
                    <a:pt x="88945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0" y="76200"/>
              <a:ext cx="1169151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Team Lead</a:t>
              </a:r>
              <a:endParaRPr/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1113756" y="7375978"/>
            <a:ext cx="4439121" cy="2563443"/>
            <a:chOff x="0" y="0"/>
            <a:chExt cx="1169151" cy="675146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169151" cy="675146"/>
            </a:xfrm>
            <a:custGeom>
              <a:rect b="b" l="l" r="r" t="t"/>
              <a:pathLst>
                <a:path extrusionOk="0" h="675146" w="1169151">
                  <a:moveTo>
                    <a:pt x="88945" y="0"/>
                  </a:moveTo>
                  <a:lnTo>
                    <a:pt x="1080206" y="0"/>
                  </a:lnTo>
                  <a:cubicBezTo>
                    <a:pt x="1103796" y="0"/>
                    <a:pt x="1126419" y="9371"/>
                    <a:pt x="1143100" y="26051"/>
                  </a:cubicBezTo>
                  <a:cubicBezTo>
                    <a:pt x="1159780" y="42732"/>
                    <a:pt x="1169151" y="65355"/>
                    <a:pt x="1169151" y="88945"/>
                  </a:cubicBezTo>
                  <a:lnTo>
                    <a:pt x="1169151" y="586200"/>
                  </a:lnTo>
                  <a:cubicBezTo>
                    <a:pt x="1169151" y="609790"/>
                    <a:pt x="1159780" y="632414"/>
                    <a:pt x="1143100" y="649094"/>
                  </a:cubicBezTo>
                  <a:cubicBezTo>
                    <a:pt x="1126419" y="665775"/>
                    <a:pt x="1103796" y="675146"/>
                    <a:pt x="1080206" y="675146"/>
                  </a:cubicBezTo>
                  <a:lnTo>
                    <a:pt x="88945" y="675146"/>
                  </a:lnTo>
                  <a:cubicBezTo>
                    <a:pt x="39822" y="675146"/>
                    <a:pt x="0" y="635323"/>
                    <a:pt x="0" y="586200"/>
                  </a:cubicBezTo>
                  <a:lnTo>
                    <a:pt x="0" y="88945"/>
                  </a:lnTo>
                  <a:cubicBezTo>
                    <a:pt x="0" y="65355"/>
                    <a:pt x="9371" y="42732"/>
                    <a:pt x="26051" y="26051"/>
                  </a:cubicBezTo>
                  <a:cubicBezTo>
                    <a:pt x="42732" y="9371"/>
                    <a:pt x="65355" y="0"/>
                    <a:pt x="88945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76200"/>
              <a:ext cx="1169151" cy="5989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Team Members</a:t>
              </a:r>
              <a:endParaRPr/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5737776" y="3530943"/>
            <a:ext cx="11088478" cy="1721385"/>
            <a:chOff x="0" y="0"/>
            <a:chExt cx="2920422" cy="453369"/>
          </a:xfrm>
        </p:grpSpPr>
        <p:sp>
          <p:nvSpPr>
            <p:cNvPr id="104" name="Google Shape;104;p14"/>
            <p:cNvSpPr/>
            <p:nvPr/>
          </p:nvSpPr>
          <p:spPr>
            <a:xfrm>
              <a:off x="0" y="0"/>
              <a:ext cx="2920422" cy="453369"/>
            </a:xfrm>
            <a:custGeom>
              <a:rect b="b" l="l" r="r" t="t"/>
              <a:pathLst>
                <a:path extrusionOk="0" h="453369" w="2920422">
                  <a:moveTo>
                    <a:pt x="35608" y="0"/>
                  </a:moveTo>
                  <a:lnTo>
                    <a:pt x="2884814" y="0"/>
                  </a:lnTo>
                  <a:cubicBezTo>
                    <a:pt x="2904480" y="0"/>
                    <a:pt x="2920422" y="15942"/>
                    <a:pt x="2920422" y="35608"/>
                  </a:cubicBezTo>
                  <a:lnTo>
                    <a:pt x="2920422" y="417761"/>
                  </a:lnTo>
                  <a:cubicBezTo>
                    <a:pt x="2920422" y="437427"/>
                    <a:pt x="2904480" y="453369"/>
                    <a:pt x="2884814" y="453369"/>
                  </a:cubicBezTo>
                  <a:lnTo>
                    <a:pt x="35608" y="453369"/>
                  </a:lnTo>
                  <a:cubicBezTo>
                    <a:pt x="15942" y="453369"/>
                    <a:pt x="0" y="437427"/>
                    <a:pt x="0" y="417761"/>
                  </a:cubicBezTo>
                  <a:lnTo>
                    <a:pt x="0" y="35608"/>
                  </a:lnTo>
                  <a:cubicBezTo>
                    <a:pt x="0" y="15942"/>
                    <a:pt x="15942" y="0"/>
                    <a:pt x="35608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0" y="76200"/>
              <a:ext cx="2920422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DiabPredict</a:t>
              </a:r>
              <a:endParaRPr/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5737776" y="5454569"/>
            <a:ext cx="11088478" cy="1721385"/>
            <a:chOff x="0" y="0"/>
            <a:chExt cx="2920422" cy="453369"/>
          </a:xfrm>
        </p:grpSpPr>
        <p:sp>
          <p:nvSpPr>
            <p:cNvPr id="107" name="Google Shape;107;p14"/>
            <p:cNvSpPr/>
            <p:nvPr/>
          </p:nvSpPr>
          <p:spPr>
            <a:xfrm>
              <a:off x="0" y="0"/>
              <a:ext cx="2920422" cy="453369"/>
            </a:xfrm>
            <a:custGeom>
              <a:rect b="b" l="l" r="r" t="t"/>
              <a:pathLst>
                <a:path extrusionOk="0" h="453369" w="2920422">
                  <a:moveTo>
                    <a:pt x="35608" y="0"/>
                  </a:moveTo>
                  <a:lnTo>
                    <a:pt x="2884814" y="0"/>
                  </a:lnTo>
                  <a:cubicBezTo>
                    <a:pt x="2904480" y="0"/>
                    <a:pt x="2920422" y="15942"/>
                    <a:pt x="2920422" y="35608"/>
                  </a:cubicBezTo>
                  <a:lnTo>
                    <a:pt x="2920422" y="417761"/>
                  </a:lnTo>
                  <a:cubicBezTo>
                    <a:pt x="2920422" y="437427"/>
                    <a:pt x="2904480" y="453369"/>
                    <a:pt x="2884814" y="453369"/>
                  </a:cubicBezTo>
                  <a:lnTo>
                    <a:pt x="35608" y="453369"/>
                  </a:lnTo>
                  <a:cubicBezTo>
                    <a:pt x="15942" y="453369"/>
                    <a:pt x="0" y="437427"/>
                    <a:pt x="0" y="417761"/>
                  </a:cubicBezTo>
                  <a:lnTo>
                    <a:pt x="0" y="35608"/>
                  </a:lnTo>
                  <a:cubicBezTo>
                    <a:pt x="0" y="15942"/>
                    <a:pt x="15942" y="0"/>
                    <a:pt x="35608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0" y="76200"/>
              <a:ext cx="2920422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Pradeep (Final Year AI/ML)</a:t>
              </a:r>
              <a:endParaRPr/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5737776" y="7158987"/>
            <a:ext cx="11088478" cy="2780434"/>
            <a:chOff x="0" y="-57150"/>
            <a:chExt cx="2920422" cy="732296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2920422" cy="675146"/>
            </a:xfrm>
            <a:custGeom>
              <a:rect b="b" l="l" r="r" t="t"/>
              <a:pathLst>
                <a:path extrusionOk="0" h="675146" w="2920422">
                  <a:moveTo>
                    <a:pt x="35608" y="0"/>
                  </a:moveTo>
                  <a:lnTo>
                    <a:pt x="2884814" y="0"/>
                  </a:lnTo>
                  <a:cubicBezTo>
                    <a:pt x="2904480" y="0"/>
                    <a:pt x="2920422" y="15942"/>
                    <a:pt x="2920422" y="35608"/>
                  </a:cubicBezTo>
                  <a:lnTo>
                    <a:pt x="2920422" y="639538"/>
                  </a:lnTo>
                  <a:cubicBezTo>
                    <a:pt x="2920422" y="659203"/>
                    <a:pt x="2904480" y="675146"/>
                    <a:pt x="2884814" y="675146"/>
                  </a:cubicBezTo>
                  <a:lnTo>
                    <a:pt x="35608" y="675146"/>
                  </a:lnTo>
                  <a:cubicBezTo>
                    <a:pt x="15942" y="675146"/>
                    <a:pt x="0" y="659203"/>
                    <a:pt x="0" y="639538"/>
                  </a:cubicBezTo>
                  <a:lnTo>
                    <a:pt x="0" y="35608"/>
                  </a:lnTo>
                  <a:cubicBezTo>
                    <a:pt x="0" y="15942"/>
                    <a:pt x="15942" y="0"/>
                    <a:pt x="35608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0" y="-57150"/>
              <a:ext cx="2920422" cy="732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Team Member 2</a:t>
              </a:r>
              <a:endParaRPr/>
            </a:p>
            <a:p>
              <a:pPr indent="0" lvl="0" marL="0" marR="0" rtl="0" algn="ctr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Team Member 3</a:t>
              </a:r>
              <a:endParaRPr/>
            </a:p>
            <a:p>
              <a:pPr indent="0" lvl="0" marL="0" marR="0" rtl="0" algn="ctr">
                <a:lnSpc>
                  <a:spcPct val="139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Team Member 4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117" name="Google Shape;117;p15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15"/>
          <p:cNvGrpSpPr/>
          <p:nvPr/>
        </p:nvGrpSpPr>
        <p:grpSpPr>
          <a:xfrm>
            <a:off x="1028700" y="3600450"/>
            <a:ext cx="16230600" cy="5657850"/>
            <a:chOff x="0" y="0"/>
            <a:chExt cx="4274726" cy="1490133"/>
          </a:xfrm>
        </p:grpSpPr>
        <p:sp>
          <p:nvSpPr>
            <p:cNvPr id="119" name="Google Shape;119;p15"/>
            <p:cNvSpPr/>
            <p:nvPr/>
          </p:nvSpPr>
          <p:spPr>
            <a:xfrm>
              <a:off x="0" y="0"/>
              <a:ext cx="4274726" cy="1490133"/>
            </a:xfrm>
            <a:custGeom>
              <a:rect b="b" l="l" r="r" t="t"/>
              <a:pathLst>
                <a:path extrusionOk="0" h="149013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465807"/>
                  </a:lnTo>
                  <a:cubicBezTo>
                    <a:pt x="4274726" y="1472258"/>
                    <a:pt x="4272163" y="1478446"/>
                    <a:pt x="4267601" y="1483008"/>
                  </a:cubicBezTo>
                  <a:cubicBezTo>
                    <a:pt x="4263039" y="1487570"/>
                    <a:pt x="4256851" y="1490133"/>
                    <a:pt x="4250399" y="1490133"/>
                  </a:cubicBezTo>
                  <a:lnTo>
                    <a:pt x="24327" y="1490133"/>
                  </a:lnTo>
                  <a:cubicBezTo>
                    <a:pt x="10891" y="1490133"/>
                    <a:pt x="0" y="1479242"/>
                    <a:pt x="0" y="146580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0" y="152400"/>
              <a:ext cx="4274726" cy="1337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6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DIABETES AFFECTS OVER 537 MILLION ADULTS GLOBALLY. MILLIONS GO UNDIAGNOSED UNTIL LIFE-THREATENING COMPLICATIONS ARISE. EARLY ML-BASED PREDICTION CAN SAVE LIVES.</a:t>
              </a:r>
              <a:endParaRPr/>
            </a:p>
          </p:txBody>
        </p:sp>
      </p:grpSp>
      <p:sp>
        <p:nvSpPr>
          <p:cNvPr id="121" name="Google Shape;121;p15"/>
          <p:cNvSpPr txBox="1"/>
          <p:nvPr/>
        </p:nvSpPr>
        <p:spPr>
          <a:xfrm>
            <a:off x="1028700" y="2180804"/>
            <a:ext cx="4492160" cy="1350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1" i="0" lang="en-US" sz="7597" u="none" cap="none" strike="noStrik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 xml:space="preserve">. </a:t>
            </a:r>
            <a:endParaRPr/>
          </a:p>
          <a:p>
            <a:pPr indent="0" lvl="0" marL="0" marR="0" rtl="0" algn="l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97" u="none" cap="none" strike="noStrike">
              <a:solidFill>
                <a:srgbClr val="75BF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15"/>
          <p:cNvGrpSpPr/>
          <p:nvPr/>
        </p:nvGrpSpPr>
        <p:grpSpPr>
          <a:xfrm>
            <a:off x="1028700" y="3600450"/>
            <a:ext cx="3114778" cy="1135971"/>
            <a:chOff x="0" y="0"/>
            <a:chExt cx="820353" cy="299186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820353" cy="299186"/>
            </a:xfrm>
            <a:custGeom>
              <a:rect b="b" l="l" r="r" t="t"/>
              <a:pathLst>
                <a:path extrusionOk="0" h="299186" w="820353">
                  <a:moveTo>
                    <a:pt x="126763" y="0"/>
                  </a:moveTo>
                  <a:lnTo>
                    <a:pt x="693590" y="0"/>
                  </a:lnTo>
                  <a:cubicBezTo>
                    <a:pt x="763599" y="0"/>
                    <a:pt x="820353" y="56754"/>
                    <a:pt x="820353" y="126763"/>
                  </a:cubicBezTo>
                  <a:lnTo>
                    <a:pt x="820353" y="172423"/>
                  </a:lnTo>
                  <a:cubicBezTo>
                    <a:pt x="820353" y="206043"/>
                    <a:pt x="806998" y="238285"/>
                    <a:pt x="783225" y="262058"/>
                  </a:cubicBezTo>
                  <a:cubicBezTo>
                    <a:pt x="759452" y="285830"/>
                    <a:pt x="727210" y="299186"/>
                    <a:pt x="693590" y="299186"/>
                  </a:cubicBezTo>
                  <a:lnTo>
                    <a:pt x="126763" y="299186"/>
                  </a:lnTo>
                  <a:cubicBezTo>
                    <a:pt x="56754" y="299186"/>
                    <a:pt x="0" y="242432"/>
                    <a:pt x="0" y="172423"/>
                  </a:cubicBezTo>
                  <a:lnTo>
                    <a:pt x="0" y="126763"/>
                  </a:lnTo>
                  <a:cubicBezTo>
                    <a:pt x="0" y="93143"/>
                    <a:pt x="13355" y="60901"/>
                    <a:pt x="37128" y="37128"/>
                  </a:cubicBezTo>
                  <a:cubicBezTo>
                    <a:pt x="60901" y="13355"/>
                    <a:pt x="93143" y="0"/>
                    <a:pt x="12676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0" y="57150"/>
              <a:ext cx="820353" cy="2420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130" name="Google Shape;130;p16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1" name="Google Shape;131;p16"/>
          <p:cNvGrpSpPr/>
          <p:nvPr/>
        </p:nvGrpSpPr>
        <p:grpSpPr>
          <a:xfrm>
            <a:off x="1113756" y="3530943"/>
            <a:ext cx="11698816" cy="1721385"/>
            <a:chOff x="0" y="0"/>
            <a:chExt cx="3081170" cy="453369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3081170" cy="453369"/>
            </a:xfrm>
            <a:custGeom>
              <a:rect b="b" l="l" r="r" t="t"/>
              <a:pathLst>
                <a:path extrusionOk="0" h="453369" w="308117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537 million adults live with diabetes globally; India ranks 2nd with 77 million cases</a:t>
              </a:r>
              <a:endParaRPr/>
            </a:p>
          </p:txBody>
        </p:sp>
      </p:grpSp>
      <p:sp>
        <p:nvSpPr>
          <p:cNvPr id="134" name="Google Shape;134;p16"/>
          <p:cNvSpPr txBox="1"/>
          <p:nvPr/>
        </p:nvSpPr>
        <p:spPr>
          <a:xfrm>
            <a:off x="1113756" y="1980779"/>
            <a:ext cx="14622363" cy="1343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Proofs </a:t>
            </a:r>
            <a:r>
              <a:rPr b="0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for </a:t>
            </a: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r>
              <a:rPr b="1" i="0" lang="en-US" sz="7597" u="none" cap="none" strike="noStrike">
                <a:solidFill>
                  <a:srgbClr val="75BF50"/>
                </a:solidFill>
                <a:latin typeface="Arial"/>
                <a:ea typeface="Arial"/>
                <a:cs typeface="Arial"/>
                <a:sym typeface="Arial"/>
              </a:rPr>
              <a:t xml:space="preserve">. </a:t>
            </a:r>
            <a:endParaRPr/>
          </a:p>
          <a:p>
            <a:pPr indent="0" lvl="0" marL="0" marR="0" rtl="0" algn="l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97" u="none" cap="none" strike="noStrike">
              <a:solidFill>
                <a:srgbClr val="75BF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16"/>
          <p:cNvGrpSpPr/>
          <p:nvPr/>
        </p:nvGrpSpPr>
        <p:grpSpPr>
          <a:xfrm>
            <a:off x="13138436" y="3530943"/>
            <a:ext cx="3687818" cy="1721385"/>
            <a:chOff x="0" y="0"/>
            <a:chExt cx="971277" cy="453369"/>
          </a:xfrm>
        </p:grpSpPr>
        <p:sp>
          <p:nvSpPr>
            <p:cNvPr id="136" name="Google Shape;136;p16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IDF Diabetes Atlas 2021</a:t>
              </a:r>
              <a:endParaRPr/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13138436" y="5454569"/>
            <a:ext cx="3687818" cy="1721385"/>
            <a:chOff x="0" y="0"/>
            <a:chExt cx="971277" cy="453369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The Lancet, 2022</a:t>
              </a:r>
              <a:endParaRPr/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13138436" y="7375978"/>
            <a:ext cx="3687818" cy="1721385"/>
            <a:chOff x="0" y="0"/>
            <a:chExt cx="971277" cy="453369"/>
          </a:xfrm>
        </p:grpSpPr>
        <p:sp>
          <p:nvSpPr>
            <p:cNvPr id="142" name="Google Shape;142;p16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Nature Digital Medicine, 2023</a:t>
              </a:r>
              <a:endParaRPr/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1113756" y="5461877"/>
            <a:ext cx="11698816" cy="1721385"/>
            <a:chOff x="0" y="0"/>
            <a:chExt cx="3081170" cy="453369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3081170" cy="453369"/>
            </a:xfrm>
            <a:custGeom>
              <a:rect b="b" l="l" r="r" t="t"/>
              <a:pathLst>
                <a:path extrusionOk="0" h="453369" w="308117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Early detection and lifestyle intervention can reduce diabetes complications by up to 80%</a:t>
              </a:r>
              <a:endParaRPr/>
            </a:p>
          </p:txBody>
        </p:sp>
      </p:grpSp>
      <p:grpSp>
        <p:nvGrpSpPr>
          <p:cNvPr id="147" name="Google Shape;147;p16"/>
          <p:cNvGrpSpPr/>
          <p:nvPr/>
        </p:nvGrpSpPr>
        <p:grpSpPr>
          <a:xfrm>
            <a:off x="1113756" y="7375978"/>
            <a:ext cx="11698816" cy="1721385"/>
            <a:chOff x="0" y="0"/>
            <a:chExt cx="3081170" cy="453369"/>
          </a:xfrm>
        </p:grpSpPr>
        <p:sp>
          <p:nvSpPr>
            <p:cNvPr id="148" name="Google Shape;148;p16"/>
            <p:cNvSpPr/>
            <p:nvPr/>
          </p:nvSpPr>
          <p:spPr>
            <a:xfrm>
              <a:off x="0" y="0"/>
              <a:ext cx="3081170" cy="453369"/>
            </a:xfrm>
            <a:custGeom>
              <a:rect b="b" l="l" r="r" t="t"/>
              <a:pathLst>
                <a:path extrusionOk="0" h="453369" w="308117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ML models using clinical patient features predict diabetes with over 95% accuracy in studies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155" name="Google Shape;155;p17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6" name="Google Shape;156;p17"/>
          <p:cNvGrpSpPr/>
          <p:nvPr/>
        </p:nvGrpSpPr>
        <p:grpSpPr>
          <a:xfrm>
            <a:off x="1028700" y="3600450"/>
            <a:ext cx="16230600" cy="5657850"/>
            <a:chOff x="0" y="0"/>
            <a:chExt cx="4274726" cy="1490133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4274726" cy="1490133"/>
            </a:xfrm>
            <a:custGeom>
              <a:rect b="b" l="l" r="r" t="t"/>
              <a:pathLst>
                <a:path extrusionOk="0" h="149013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465807"/>
                  </a:lnTo>
                  <a:cubicBezTo>
                    <a:pt x="4274726" y="1472258"/>
                    <a:pt x="4272163" y="1478446"/>
                    <a:pt x="4267601" y="1483008"/>
                  </a:cubicBezTo>
                  <a:cubicBezTo>
                    <a:pt x="4263039" y="1487570"/>
                    <a:pt x="4256851" y="1490133"/>
                    <a:pt x="4250399" y="1490133"/>
                  </a:cubicBezTo>
                  <a:lnTo>
                    <a:pt x="24327" y="1490133"/>
                  </a:lnTo>
                  <a:cubicBezTo>
                    <a:pt x="10891" y="1490133"/>
                    <a:pt x="0" y="1479242"/>
                    <a:pt x="0" y="1465807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0" y="152400"/>
              <a:ext cx="4274726" cy="13377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6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To design/develop an ML-based diabetes prediction system for healthcare providers that solves early, accurate risk detection in patients using clinical features.</a:t>
              </a:r>
              <a:endParaRPr/>
            </a:p>
            <a:p>
              <a:pPr indent="0" lvl="0" marL="0" marR="0" rtl="0" algn="ctr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5600" u="none" cap="none" strike="noStrike">
                <a:solidFill>
                  <a:srgbClr val="284B7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17"/>
          <p:cNvSpPr txBox="1"/>
          <p:nvPr/>
        </p:nvSpPr>
        <p:spPr>
          <a:xfrm>
            <a:off x="1028700" y="2180804"/>
            <a:ext cx="3083868" cy="1343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</a:t>
            </a:r>
            <a:r>
              <a:rPr b="1" i="0" lang="en-US" sz="7597" u="none" cap="none" strike="noStrik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 xml:space="preserve">. </a:t>
            </a:r>
            <a:endParaRPr/>
          </a:p>
          <a:p>
            <a:pPr indent="0" lvl="0" marL="0" marR="0" rtl="0" algn="l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97" u="none" cap="none" strike="noStrik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17"/>
          <p:cNvGrpSpPr/>
          <p:nvPr/>
        </p:nvGrpSpPr>
        <p:grpSpPr>
          <a:xfrm>
            <a:off x="1028700" y="3600450"/>
            <a:ext cx="3114778" cy="1135971"/>
            <a:chOff x="0" y="0"/>
            <a:chExt cx="820353" cy="299186"/>
          </a:xfrm>
        </p:grpSpPr>
        <p:sp>
          <p:nvSpPr>
            <p:cNvPr id="161" name="Google Shape;161;p17"/>
            <p:cNvSpPr/>
            <p:nvPr/>
          </p:nvSpPr>
          <p:spPr>
            <a:xfrm>
              <a:off x="0" y="0"/>
              <a:ext cx="820353" cy="299186"/>
            </a:xfrm>
            <a:custGeom>
              <a:rect b="b" l="l" r="r" t="t"/>
              <a:pathLst>
                <a:path extrusionOk="0" h="299186" w="820353">
                  <a:moveTo>
                    <a:pt x="126763" y="0"/>
                  </a:moveTo>
                  <a:lnTo>
                    <a:pt x="693590" y="0"/>
                  </a:lnTo>
                  <a:cubicBezTo>
                    <a:pt x="763599" y="0"/>
                    <a:pt x="820353" y="56754"/>
                    <a:pt x="820353" y="126763"/>
                  </a:cubicBezTo>
                  <a:lnTo>
                    <a:pt x="820353" y="172423"/>
                  </a:lnTo>
                  <a:cubicBezTo>
                    <a:pt x="820353" y="206043"/>
                    <a:pt x="806998" y="238285"/>
                    <a:pt x="783225" y="262058"/>
                  </a:cubicBezTo>
                  <a:cubicBezTo>
                    <a:pt x="759452" y="285830"/>
                    <a:pt x="727210" y="299186"/>
                    <a:pt x="693590" y="299186"/>
                  </a:cubicBezTo>
                  <a:lnTo>
                    <a:pt x="126763" y="299186"/>
                  </a:lnTo>
                  <a:cubicBezTo>
                    <a:pt x="56754" y="299186"/>
                    <a:pt x="0" y="242432"/>
                    <a:pt x="0" y="172423"/>
                  </a:cubicBezTo>
                  <a:lnTo>
                    <a:pt x="0" y="126763"/>
                  </a:lnTo>
                  <a:cubicBezTo>
                    <a:pt x="0" y="93143"/>
                    <a:pt x="13355" y="60901"/>
                    <a:pt x="37128" y="37128"/>
                  </a:cubicBezTo>
                  <a:cubicBezTo>
                    <a:pt x="60901" y="13355"/>
                    <a:pt x="93143" y="0"/>
                    <a:pt x="12676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0" y="57150"/>
              <a:ext cx="820353" cy="2420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Our Solution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168" name="Google Shape;168;p18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8"/>
          <p:cNvSpPr txBox="1"/>
          <p:nvPr/>
        </p:nvSpPr>
        <p:spPr>
          <a:xfrm>
            <a:off x="1028700" y="2180804"/>
            <a:ext cx="5762476" cy="1343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Tech Stack </a:t>
            </a:r>
            <a:r>
              <a:rPr b="1" i="0" lang="en-US" sz="7597" u="none" cap="none" strike="noStrik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 xml:space="preserve">. </a:t>
            </a:r>
            <a:endParaRPr/>
          </a:p>
          <a:p>
            <a:pPr indent="0" lvl="0" marL="0" marR="0" rtl="0" algn="l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97" u="none" cap="none" strike="noStrik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18"/>
          <p:cNvGrpSpPr/>
          <p:nvPr/>
        </p:nvGrpSpPr>
        <p:grpSpPr>
          <a:xfrm>
            <a:off x="1028700" y="3600450"/>
            <a:ext cx="7911906" cy="6168521"/>
            <a:chOff x="0" y="0"/>
            <a:chExt cx="10549209" cy="8224695"/>
          </a:xfrm>
        </p:grpSpPr>
        <p:grpSp>
          <p:nvGrpSpPr>
            <p:cNvPr id="171" name="Google Shape;171;p18"/>
            <p:cNvGrpSpPr/>
            <p:nvPr/>
          </p:nvGrpSpPr>
          <p:grpSpPr>
            <a:xfrm>
              <a:off x="0" y="0"/>
              <a:ext cx="10549209" cy="8224695"/>
              <a:chOff x="0" y="0"/>
              <a:chExt cx="2083794" cy="1624631"/>
            </a:xfrm>
          </p:grpSpPr>
          <p:sp>
            <p:nvSpPr>
              <p:cNvPr id="172" name="Google Shape;172;p18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rect b="b" l="l" r="r" t="t"/>
                <a:pathLst>
                  <a:path extrusionOk="0" h="1624631" w="2083794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8"/>
              <p:cNvSpPr txBox="1"/>
              <p:nvPr/>
            </p:nvSpPr>
            <p:spPr>
              <a:xfrm>
                <a:off x="0" y="133350"/>
                <a:ext cx="2083794" cy="1491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5000" u="none" cap="none" strike="noStrik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scikit-learn</a:t>
                </a:r>
                <a:endParaRPr/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5000" u="none" cap="none" strike="noStrik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Because it can train Random Forest, Logistic Regression and SVM classifiers efficiently on CPU with no GPU required</a:t>
                </a:r>
                <a:endParaRPr/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18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175" name="Google Shape;175;p18"/>
              <p:cNvSpPr/>
              <p:nvPr/>
            </p:nvSpPr>
            <p:spPr>
              <a:xfrm>
                <a:off x="0" y="0"/>
                <a:ext cx="970317" cy="299186"/>
              </a:xfrm>
              <a:custGeom>
                <a:rect b="b" l="l" r="r" t="t"/>
                <a:pathLst>
                  <a:path extrusionOk="0" h="299186" w="970317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8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793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ML /AI Engine</a:t>
                </a:r>
                <a:endParaRPr/>
              </a:p>
            </p:txBody>
          </p:sp>
        </p:grpSp>
      </p:grpSp>
      <p:grpSp>
        <p:nvGrpSpPr>
          <p:cNvPr id="177" name="Google Shape;177;p18"/>
          <p:cNvGrpSpPr/>
          <p:nvPr/>
        </p:nvGrpSpPr>
        <p:grpSpPr>
          <a:xfrm>
            <a:off x="9144000" y="3600450"/>
            <a:ext cx="7911906" cy="6168521"/>
            <a:chOff x="0" y="0"/>
            <a:chExt cx="10549209" cy="8224695"/>
          </a:xfrm>
        </p:grpSpPr>
        <p:grpSp>
          <p:nvGrpSpPr>
            <p:cNvPr id="178" name="Google Shape;178;p18"/>
            <p:cNvGrpSpPr/>
            <p:nvPr/>
          </p:nvGrpSpPr>
          <p:grpSpPr>
            <a:xfrm>
              <a:off x="0" y="0"/>
              <a:ext cx="10549209" cy="8224695"/>
              <a:chOff x="0" y="0"/>
              <a:chExt cx="2083794" cy="1624631"/>
            </a:xfrm>
          </p:grpSpPr>
          <p:sp>
            <p:nvSpPr>
              <p:cNvPr id="179" name="Google Shape;179;p18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rect b="b" l="l" r="r" t="t"/>
                <a:pathLst>
                  <a:path extrusionOk="0" h="1624631" w="2083794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8"/>
              <p:cNvSpPr txBox="1"/>
              <p:nvPr/>
            </p:nvSpPr>
            <p:spPr>
              <a:xfrm>
                <a:off x="0" y="133350"/>
                <a:ext cx="2083794" cy="1491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5000" u="none" cap="none" strike="noStrik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 xml:space="preserve"> Python + Joblib</a:t>
                </a:r>
                <a:endParaRPr/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5000" u="none" cap="none" strike="noStrik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Because it can serialize and serve the full preprocessing pipeline via Joblib for instant real-time predictions</a:t>
                </a:r>
                <a:endParaRPr/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p18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182" name="Google Shape;182;p18"/>
              <p:cNvSpPr/>
              <p:nvPr/>
            </p:nvSpPr>
            <p:spPr>
              <a:xfrm>
                <a:off x="0" y="0"/>
                <a:ext cx="970317" cy="299186"/>
              </a:xfrm>
              <a:custGeom>
                <a:rect b="b" l="l" r="r" t="t"/>
                <a:pathLst>
                  <a:path extrusionOk="0" h="299186" w="970317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8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793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 xml:space="preserve">Backend and API 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9"/>
          <p:cNvSpPr txBox="1"/>
          <p:nvPr/>
        </p:nvSpPr>
        <p:spPr>
          <a:xfrm>
            <a:off x="1028700" y="2180804"/>
            <a:ext cx="5762476" cy="1343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Tech Stack </a:t>
            </a:r>
            <a:r>
              <a:rPr b="1" i="0" lang="en-US" sz="7597" u="none" cap="none" strike="noStrik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 xml:space="preserve">. </a:t>
            </a:r>
            <a:endParaRPr/>
          </a:p>
          <a:p>
            <a:pPr indent="0" lvl="0" marL="0" marR="0" rtl="0" algn="l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97" u="none" cap="none" strike="noStrik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19"/>
          <p:cNvGrpSpPr/>
          <p:nvPr/>
        </p:nvGrpSpPr>
        <p:grpSpPr>
          <a:xfrm>
            <a:off x="1028700" y="3600450"/>
            <a:ext cx="7911906" cy="6168521"/>
            <a:chOff x="0" y="0"/>
            <a:chExt cx="10549209" cy="8224695"/>
          </a:xfrm>
        </p:grpSpPr>
        <p:grpSp>
          <p:nvGrpSpPr>
            <p:cNvPr id="192" name="Google Shape;192;p19"/>
            <p:cNvGrpSpPr/>
            <p:nvPr/>
          </p:nvGrpSpPr>
          <p:grpSpPr>
            <a:xfrm>
              <a:off x="0" y="0"/>
              <a:ext cx="10549209" cy="8224695"/>
              <a:chOff x="0" y="0"/>
              <a:chExt cx="2083794" cy="1624631"/>
            </a:xfrm>
          </p:grpSpPr>
          <p:sp>
            <p:nvSpPr>
              <p:cNvPr id="193" name="Google Shape;193;p19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rect b="b" l="l" r="r" t="t"/>
                <a:pathLst>
                  <a:path extrusionOk="0" h="1624631" w="2083794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9"/>
              <p:cNvSpPr txBox="1"/>
              <p:nvPr/>
            </p:nvSpPr>
            <p:spPr>
              <a:xfrm>
                <a:off x="0" y="133350"/>
                <a:ext cx="2083794" cy="1491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5000" u="none" cap="none" strike="noStrik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Streamlit</a:t>
                </a:r>
                <a:endParaRPr/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5000" u="none" cap="none" strike="noStrik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Because it can build interactive ML web apps with sliders, dropdowns and real-time predictions in pure Python</a:t>
                </a:r>
                <a:endParaRPr/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19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196" name="Google Shape;196;p19"/>
              <p:cNvSpPr/>
              <p:nvPr/>
            </p:nvSpPr>
            <p:spPr>
              <a:xfrm>
                <a:off x="0" y="0"/>
                <a:ext cx="970317" cy="299186"/>
              </a:xfrm>
              <a:custGeom>
                <a:rect b="b" l="l" r="r" t="t"/>
                <a:pathLst>
                  <a:path extrusionOk="0" h="299186" w="970317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9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793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Frontend and Dashboard</a:t>
                </a:r>
                <a:endParaRPr/>
              </a:p>
            </p:txBody>
          </p:sp>
        </p:grpSp>
      </p:grpSp>
      <p:grpSp>
        <p:nvGrpSpPr>
          <p:cNvPr id="198" name="Google Shape;198;p19"/>
          <p:cNvGrpSpPr/>
          <p:nvPr/>
        </p:nvGrpSpPr>
        <p:grpSpPr>
          <a:xfrm>
            <a:off x="9144000" y="3600450"/>
            <a:ext cx="7911906" cy="6168521"/>
            <a:chOff x="0" y="0"/>
            <a:chExt cx="10549209" cy="8224695"/>
          </a:xfrm>
        </p:grpSpPr>
        <p:grpSp>
          <p:nvGrpSpPr>
            <p:cNvPr id="199" name="Google Shape;199;p19"/>
            <p:cNvGrpSpPr/>
            <p:nvPr/>
          </p:nvGrpSpPr>
          <p:grpSpPr>
            <a:xfrm>
              <a:off x="0" y="0"/>
              <a:ext cx="10549209" cy="8224695"/>
              <a:chOff x="0" y="0"/>
              <a:chExt cx="2083794" cy="1624631"/>
            </a:xfrm>
          </p:grpSpPr>
          <p:sp>
            <p:nvSpPr>
              <p:cNvPr id="200" name="Google Shape;200;p19"/>
              <p:cNvSpPr/>
              <p:nvPr/>
            </p:nvSpPr>
            <p:spPr>
              <a:xfrm>
                <a:off x="0" y="0"/>
                <a:ext cx="2083794" cy="1624631"/>
              </a:xfrm>
              <a:custGeom>
                <a:rect b="b" l="l" r="r" t="t"/>
                <a:pathLst>
                  <a:path extrusionOk="0" h="1624631" w="2083794">
                    <a:moveTo>
                      <a:pt x="49904" y="0"/>
                    </a:moveTo>
                    <a:lnTo>
                      <a:pt x="2033890" y="0"/>
                    </a:lnTo>
                    <a:cubicBezTo>
                      <a:pt x="2047125" y="0"/>
                      <a:pt x="2059819" y="5258"/>
                      <a:pt x="2069178" y="14617"/>
                    </a:cubicBezTo>
                    <a:cubicBezTo>
                      <a:pt x="2078537" y="23975"/>
                      <a:pt x="2083794" y="36669"/>
                      <a:pt x="2083794" y="49904"/>
                    </a:cubicBezTo>
                    <a:lnTo>
                      <a:pt x="2083794" y="1574727"/>
                    </a:lnTo>
                    <a:cubicBezTo>
                      <a:pt x="2083794" y="1602288"/>
                      <a:pt x="2061451" y="1624631"/>
                      <a:pt x="2033890" y="1624631"/>
                    </a:cubicBezTo>
                    <a:lnTo>
                      <a:pt x="49904" y="1624631"/>
                    </a:lnTo>
                    <a:cubicBezTo>
                      <a:pt x="36669" y="1624631"/>
                      <a:pt x="23975" y="1619373"/>
                      <a:pt x="14617" y="1610015"/>
                    </a:cubicBezTo>
                    <a:cubicBezTo>
                      <a:pt x="5258" y="1600656"/>
                      <a:pt x="0" y="1587962"/>
                      <a:pt x="0" y="1574727"/>
                    </a:cubicBezTo>
                    <a:lnTo>
                      <a:pt x="0" y="49904"/>
                    </a:lnTo>
                    <a:cubicBezTo>
                      <a:pt x="0" y="36669"/>
                      <a:pt x="5258" y="23975"/>
                      <a:pt x="14617" y="14617"/>
                    </a:cubicBezTo>
                    <a:cubicBezTo>
                      <a:pt x="23975" y="5258"/>
                      <a:pt x="36669" y="0"/>
                      <a:pt x="49904" y="0"/>
                    </a:cubicBezTo>
                    <a:close/>
                  </a:path>
                </a:pathLst>
              </a:custGeom>
              <a:solidFill>
                <a:srgbClr val="FEA9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9"/>
              <p:cNvSpPr txBox="1"/>
              <p:nvPr/>
            </p:nvSpPr>
            <p:spPr>
              <a:xfrm>
                <a:off x="0" y="133350"/>
                <a:ext cx="2083794" cy="1491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5000" u="none" cap="none" strike="noStrik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 xml:space="preserve"> Local / CPU Deployment</a:t>
                </a:r>
                <a:endParaRPr/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5000" u="none" cap="none" strike="noStrike">
                    <a:solidFill>
                      <a:srgbClr val="284B71"/>
                    </a:solidFill>
                    <a:latin typeface="Arial"/>
                    <a:ea typeface="Arial"/>
                    <a:cs typeface="Arial"/>
                    <a:sym typeface="Arial"/>
                  </a:rPr>
                  <a:t>Because it can run the full system locally on CPU hardware with no cloud services or GPU infrastructure needed</a:t>
                </a:r>
                <a:endParaRPr/>
              </a:p>
              <a:p>
                <a:pPr indent="0" lvl="0" marL="0" marR="0" rtl="0" algn="l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0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19"/>
            <p:cNvGrpSpPr/>
            <p:nvPr/>
          </p:nvGrpSpPr>
          <p:grpSpPr>
            <a:xfrm>
              <a:off x="0" y="0"/>
              <a:ext cx="4912231" cy="1514628"/>
              <a:chOff x="0" y="0"/>
              <a:chExt cx="970317" cy="299186"/>
            </a:xfrm>
          </p:grpSpPr>
          <p:sp>
            <p:nvSpPr>
              <p:cNvPr id="203" name="Google Shape;203;p19"/>
              <p:cNvSpPr/>
              <p:nvPr/>
            </p:nvSpPr>
            <p:spPr>
              <a:xfrm>
                <a:off x="0" y="0"/>
                <a:ext cx="970317" cy="299186"/>
              </a:xfrm>
              <a:custGeom>
                <a:rect b="b" l="l" r="r" t="t"/>
                <a:pathLst>
                  <a:path extrusionOk="0" h="299186" w="970317">
                    <a:moveTo>
                      <a:pt x="107171" y="0"/>
                    </a:moveTo>
                    <a:lnTo>
                      <a:pt x="863146" y="0"/>
                    </a:lnTo>
                    <a:cubicBezTo>
                      <a:pt x="922335" y="0"/>
                      <a:pt x="970317" y="47982"/>
                      <a:pt x="970317" y="107171"/>
                    </a:cubicBezTo>
                    <a:lnTo>
                      <a:pt x="970317" y="192014"/>
                    </a:lnTo>
                    <a:cubicBezTo>
                      <a:pt x="970317" y="220438"/>
                      <a:pt x="959026" y="247697"/>
                      <a:pt x="938927" y="267796"/>
                    </a:cubicBezTo>
                    <a:cubicBezTo>
                      <a:pt x="918829" y="287895"/>
                      <a:pt x="891570" y="299186"/>
                      <a:pt x="863146" y="299186"/>
                    </a:cubicBezTo>
                    <a:lnTo>
                      <a:pt x="107171" y="299186"/>
                    </a:lnTo>
                    <a:cubicBezTo>
                      <a:pt x="47982" y="299186"/>
                      <a:pt x="0" y="251203"/>
                      <a:pt x="0" y="192014"/>
                    </a:cubicBezTo>
                    <a:lnTo>
                      <a:pt x="0" y="107171"/>
                    </a:lnTo>
                    <a:cubicBezTo>
                      <a:pt x="0" y="78748"/>
                      <a:pt x="11291" y="51488"/>
                      <a:pt x="31390" y="31390"/>
                    </a:cubicBezTo>
                    <a:cubicBezTo>
                      <a:pt x="51488" y="11291"/>
                      <a:pt x="78748" y="0"/>
                      <a:pt x="107171" y="0"/>
                    </a:cubicBezTo>
                    <a:close/>
                  </a:path>
                </a:pathLst>
              </a:custGeom>
              <a:solidFill>
                <a:srgbClr val="284B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9"/>
              <p:cNvSpPr txBox="1"/>
              <p:nvPr/>
            </p:nvSpPr>
            <p:spPr>
              <a:xfrm>
                <a:off x="0" y="57150"/>
                <a:ext cx="970317" cy="242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793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Infrastructure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210" name="Google Shape;210;p20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1" name="Google Shape;211;p20"/>
          <p:cNvGrpSpPr/>
          <p:nvPr/>
        </p:nvGrpSpPr>
        <p:grpSpPr>
          <a:xfrm>
            <a:off x="610160" y="3598446"/>
            <a:ext cx="5589288" cy="6168521"/>
            <a:chOff x="0" y="0"/>
            <a:chExt cx="1472076" cy="1624631"/>
          </a:xfrm>
        </p:grpSpPr>
        <p:sp>
          <p:nvSpPr>
            <p:cNvPr id="212" name="Google Shape;212;p20"/>
            <p:cNvSpPr/>
            <p:nvPr/>
          </p:nvSpPr>
          <p:spPr>
            <a:xfrm>
              <a:off x="0" y="0"/>
              <a:ext cx="1472076" cy="1624631"/>
            </a:xfrm>
            <a:custGeom>
              <a:rect b="b" l="l" r="r" t="t"/>
              <a:pathLst>
                <a:path extrusionOk="0" h="1624631" w="1472076">
                  <a:moveTo>
                    <a:pt x="70642" y="0"/>
                  </a:moveTo>
                  <a:lnTo>
                    <a:pt x="1401434" y="0"/>
                  </a:lnTo>
                  <a:cubicBezTo>
                    <a:pt x="1440449" y="0"/>
                    <a:pt x="1472076" y="31627"/>
                    <a:pt x="1472076" y="70642"/>
                  </a:cubicBezTo>
                  <a:lnTo>
                    <a:pt x="1472076" y="1553989"/>
                  </a:lnTo>
                  <a:cubicBezTo>
                    <a:pt x="1472076" y="1593004"/>
                    <a:pt x="1440449" y="1624631"/>
                    <a:pt x="1401434" y="1624631"/>
                  </a:cubicBezTo>
                  <a:lnTo>
                    <a:pt x="70642" y="1624631"/>
                  </a:lnTo>
                  <a:cubicBezTo>
                    <a:pt x="31627" y="1624631"/>
                    <a:pt x="0" y="1593004"/>
                    <a:pt x="0" y="1553989"/>
                  </a:cubicBezTo>
                  <a:lnTo>
                    <a:pt x="0" y="70642"/>
                  </a:lnTo>
                  <a:cubicBezTo>
                    <a:pt x="0" y="31627"/>
                    <a:pt x="31627" y="0"/>
                    <a:pt x="70642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0" y="133350"/>
              <a:ext cx="1472076" cy="1491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Patient inputs health data: Age, BMI, HbA1c, Blood Glucose, Smoking History, Hypertension</a:t>
              </a:r>
              <a:endParaRPr/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610160" y="3598446"/>
            <a:ext cx="2602648" cy="1135971"/>
            <a:chOff x="0" y="0"/>
            <a:chExt cx="685471" cy="299186"/>
          </a:xfrm>
        </p:grpSpPr>
        <p:sp>
          <p:nvSpPr>
            <p:cNvPr id="215" name="Google Shape;215;p20"/>
            <p:cNvSpPr/>
            <p:nvPr/>
          </p:nvSpPr>
          <p:spPr>
            <a:xfrm>
              <a:off x="0" y="0"/>
              <a:ext cx="685471" cy="299186"/>
            </a:xfrm>
            <a:custGeom>
              <a:rect b="b" l="l" r="r" t="t"/>
              <a:pathLst>
                <a:path extrusionOk="0" h="299186" w="685471">
                  <a:moveTo>
                    <a:pt x="149593" y="0"/>
                  </a:moveTo>
                  <a:lnTo>
                    <a:pt x="535878" y="0"/>
                  </a:lnTo>
                  <a:cubicBezTo>
                    <a:pt x="575553" y="0"/>
                    <a:pt x="613602" y="15761"/>
                    <a:pt x="641656" y="43815"/>
                  </a:cubicBezTo>
                  <a:cubicBezTo>
                    <a:pt x="669710" y="71869"/>
                    <a:pt x="685471" y="109918"/>
                    <a:pt x="685471" y="149593"/>
                  </a:cubicBezTo>
                  <a:lnTo>
                    <a:pt x="685471" y="149593"/>
                  </a:lnTo>
                  <a:cubicBezTo>
                    <a:pt x="685471" y="189267"/>
                    <a:pt x="669710" y="227317"/>
                    <a:pt x="641656" y="255371"/>
                  </a:cubicBezTo>
                  <a:cubicBezTo>
                    <a:pt x="613602" y="283425"/>
                    <a:pt x="575553" y="299186"/>
                    <a:pt x="535878" y="299186"/>
                  </a:cubicBezTo>
                  <a:lnTo>
                    <a:pt x="149593" y="299186"/>
                  </a:lnTo>
                  <a:cubicBezTo>
                    <a:pt x="109918" y="299186"/>
                    <a:pt x="71869" y="283425"/>
                    <a:pt x="43815" y="255371"/>
                  </a:cubicBezTo>
                  <a:cubicBezTo>
                    <a:pt x="15761" y="227317"/>
                    <a:pt x="0" y="189267"/>
                    <a:pt x="0" y="149593"/>
                  </a:cubicBezTo>
                  <a:lnTo>
                    <a:pt x="0" y="149593"/>
                  </a:lnTo>
                  <a:cubicBezTo>
                    <a:pt x="0" y="109918"/>
                    <a:pt x="15761" y="71869"/>
                    <a:pt x="43815" y="43815"/>
                  </a:cubicBezTo>
                  <a:cubicBezTo>
                    <a:pt x="71869" y="15761"/>
                    <a:pt x="109918" y="0"/>
                    <a:pt x="1495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0" y="57150"/>
              <a:ext cx="685471" cy="2420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 Input</a:t>
              </a:r>
              <a:endParaRPr/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6343134" y="3598446"/>
            <a:ext cx="5589288" cy="6168521"/>
            <a:chOff x="0" y="0"/>
            <a:chExt cx="1472076" cy="1624631"/>
          </a:xfrm>
        </p:grpSpPr>
        <p:sp>
          <p:nvSpPr>
            <p:cNvPr id="218" name="Google Shape;218;p20"/>
            <p:cNvSpPr/>
            <p:nvPr/>
          </p:nvSpPr>
          <p:spPr>
            <a:xfrm>
              <a:off x="0" y="0"/>
              <a:ext cx="1472076" cy="1624631"/>
            </a:xfrm>
            <a:custGeom>
              <a:rect b="b" l="l" r="r" t="t"/>
              <a:pathLst>
                <a:path extrusionOk="0" h="1624631" w="1472076">
                  <a:moveTo>
                    <a:pt x="70642" y="0"/>
                  </a:moveTo>
                  <a:lnTo>
                    <a:pt x="1401434" y="0"/>
                  </a:lnTo>
                  <a:cubicBezTo>
                    <a:pt x="1440449" y="0"/>
                    <a:pt x="1472076" y="31627"/>
                    <a:pt x="1472076" y="70642"/>
                  </a:cubicBezTo>
                  <a:lnTo>
                    <a:pt x="1472076" y="1553989"/>
                  </a:lnTo>
                  <a:cubicBezTo>
                    <a:pt x="1472076" y="1593004"/>
                    <a:pt x="1440449" y="1624631"/>
                    <a:pt x="1401434" y="1624631"/>
                  </a:cubicBezTo>
                  <a:lnTo>
                    <a:pt x="70642" y="1624631"/>
                  </a:lnTo>
                  <a:cubicBezTo>
                    <a:pt x="31627" y="1624631"/>
                    <a:pt x="0" y="1593004"/>
                    <a:pt x="0" y="1553989"/>
                  </a:cubicBezTo>
                  <a:lnTo>
                    <a:pt x="0" y="70642"/>
                  </a:lnTo>
                  <a:cubicBezTo>
                    <a:pt x="0" y="31627"/>
                    <a:pt x="31627" y="0"/>
                    <a:pt x="70642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0" y="133350"/>
              <a:ext cx="1472076" cy="1491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Data Pipeline: Feature scaling and encoding → Random Forest / SVM / Logistic Regression → Best model selected by ROC-AUC</a:t>
              </a:r>
              <a:endParaRPr/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6343134" y="3598446"/>
            <a:ext cx="2602648" cy="1135971"/>
            <a:chOff x="0" y="0"/>
            <a:chExt cx="685471" cy="299186"/>
          </a:xfrm>
        </p:grpSpPr>
        <p:sp>
          <p:nvSpPr>
            <p:cNvPr id="221" name="Google Shape;221;p20"/>
            <p:cNvSpPr/>
            <p:nvPr/>
          </p:nvSpPr>
          <p:spPr>
            <a:xfrm>
              <a:off x="0" y="0"/>
              <a:ext cx="685471" cy="299186"/>
            </a:xfrm>
            <a:custGeom>
              <a:rect b="b" l="l" r="r" t="t"/>
              <a:pathLst>
                <a:path extrusionOk="0" h="299186" w="685471">
                  <a:moveTo>
                    <a:pt x="149593" y="0"/>
                  </a:moveTo>
                  <a:lnTo>
                    <a:pt x="535878" y="0"/>
                  </a:lnTo>
                  <a:cubicBezTo>
                    <a:pt x="575553" y="0"/>
                    <a:pt x="613602" y="15761"/>
                    <a:pt x="641656" y="43815"/>
                  </a:cubicBezTo>
                  <a:cubicBezTo>
                    <a:pt x="669710" y="71869"/>
                    <a:pt x="685471" y="109918"/>
                    <a:pt x="685471" y="149593"/>
                  </a:cubicBezTo>
                  <a:lnTo>
                    <a:pt x="685471" y="149593"/>
                  </a:lnTo>
                  <a:cubicBezTo>
                    <a:pt x="685471" y="189267"/>
                    <a:pt x="669710" y="227317"/>
                    <a:pt x="641656" y="255371"/>
                  </a:cubicBezTo>
                  <a:cubicBezTo>
                    <a:pt x="613602" y="283425"/>
                    <a:pt x="575553" y="299186"/>
                    <a:pt x="535878" y="299186"/>
                  </a:cubicBezTo>
                  <a:lnTo>
                    <a:pt x="149593" y="299186"/>
                  </a:lnTo>
                  <a:cubicBezTo>
                    <a:pt x="109918" y="299186"/>
                    <a:pt x="71869" y="283425"/>
                    <a:pt x="43815" y="255371"/>
                  </a:cubicBezTo>
                  <a:cubicBezTo>
                    <a:pt x="15761" y="227317"/>
                    <a:pt x="0" y="189267"/>
                    <a:pt x="0" y="149593"/>
                  </a:cubicBezTo>
                  <a:lnTo>
                    <a:pt x="0" y="149593"/>
                  </a:lnTo>
                  <a:cubicBezTo>
                    <a:pt x="0" y="109918"/>
                    <a:pt x="15761" y="71869"/>
                    <a:pt x="43815" y="43815"/>
                  </a:cubicBezTo>
                  <a:cubicBezTo>
                    <a:pt x="71869" y="15761"/>
                    <a:pt x="109918" y="0"/>
                    <a:pt x="1495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0" y="57150"/>
              <a:ext cx="685471" cy="2420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ML Pipeline</a:t>
              </a:r>
              <a:endParaRPr/>
            </a:p>
          </p:txBody>
        </p:sp>
      </p:grpSp>
      <p:grpSp>
        <p:nvGrpSpPr>
          <p:cNvPr id="223" name="Google Shape;223;p20"/>
          <p:cNvGrpSpPr/>
          <p:nvPr/>
        </p:nvGrpSpPr>
        <p:grpSpPr>
          <a:xfrm>
            <a:off x="12076108" y="3598446"/>
            <a:ext cx="5589288" cy="6168521"/>
            <a:chOff x="0" y="0"/>
            <a:chExt cx="1472076" cy="1624631"/>
          </a:xfrm>
        </p:grpSpPr>
        <p:sp>
          <p:nvSpPr>
            <p:cNvPr id="224" name="Google Shape;224;p20"/>
            <p:cNvSpPr/>
            <p:nvPr/>
          </p:nvSpPr>
          <p:spPr>
            <a:xfrm>
              <a:off x="0" y="0"/>
              <a:ext cx="1472076" cy="1624631"/>
            </a:xfrm>
            <a:custGeom>
              <a:rect b="b" l="l" r="r" t="t"/>
              <a:pathLst>
                <a:path extrusionOk="0" h="1624631" w="1472076">
                  <a:moveTo>
                    <a:pt x="70642" y="0"/>
                  </a:moveTo>
                  <a:lnTo>
                    <a:pt x="1401434" y="0"/>
                  </a:lnTo>
                  <a:cubicBezTo>
                    <a:pt x="1440449" y="0"/>
                    <a:pt x="1472076" y="31627"/>
                    <a:pt x="1472076" y="70642"/>
                  </a:cubicBezTo>
                  <a:lnTo>
                    <a:pt x="1472076" y="1553989"/>
                  </a:lnTo>
                  <a:cubicBezTo>
                    <a:pt x="1472076" y="1593004"/>
                    <a:pt x="1440449" y="1624631"/>
                    <a:pt x="1401434" y="1624631"/>
                  </a:cubicBezTo>
                  <a:lnTo>
                    <a:pt x="70642" y="1624631"/>
                  </a:lnTo>
                  <a:cubicBezTo>
                    <a:pt x="31627" y="1624631"/>
                    <a:pt x="0" y="1593004"/>
                    <a:pt x="0" y="1553989"/>
                  </a:cubicBezTo>
                  <a:lnTo>
                    <a:pt x="0" y="70642"/>
                  </a:lnTo>
                  <a:cubicBezTo>
                    <a:pt x="0" y="31627"/>
                    <a:pt x="31627" y="0"/>
                    <a:pt x="70642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0" y="133350"/>
              <a:ext cx="1472076" cy="14912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Output: Diabetes risk probability (0-100%), classification result, and personalised diet plan recommendation</a:t>
              </a:r>
              <a:endParaRPr/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12076108" y="3598446"/>
            <a:ext cx="2602648" cy="1135971"/>
            <a:chOff x="0" y="0"/>
            <a:chExt cx="685471" cy="299186"/>
          </a:xfrm>
        </p:grpSpPr>
        <p:sp>
          <p:nvSpPr>
            <p:cNvPr id="227" name="Google Shape;227;p20"/>
            <p:cNvSpPr/>
            <p:nvPr/>
          </p:nvSpPr>
          <p:spPr>
            <a:xfrm>
              <a:off x="0" y="0"/>
              <a:ext cx="685471" cy="299186"/>
            </a:xfrm>
            <a:custGeom>
              <a:rect b="b" l="l" r="r" t="t"/>
              <a:pathLst>
                <a:path extrusionOk="0" h="299186" w="685471">
                  <a:moveTo>
                    <a:pt x="149593" y="0"/>
                  </a:moveTo>
                  <a:lnTo>
                    <a:pt x="535878" y="0"/>
                  </a:lnTo>
                  <a:cubicBezTo>
                    <a:pt x="575553" y="0"/>
                    <a:pt x="613602" y="15761"/>
                    <a:pt x="641656" y="43815"/>
                  </a:cubicBezTo>
                  <a:cubicBezTo>
                    <a:pt x="669710" y="71869"/>
                    <a:pt x="685471" y="109918"/>
                    <a:pt x="685471" y="149593"/>
                  </a:cubicBezTo>
                  <a:lnTo>
                    <a:pt x="685471" y="149593"/>
                  </a:lnTo>
                  <a:cubicBezTo>
                    <a:pt x="685471" y="189267"/>
                    <a:pt x="669710" y="227317"/>
                    <a:pt x="641656" y="255371"/>
                  </a:cubicBezTo>
                  <a:cubicBezTo>
                    <a:pt x="613602" y="283425"/>
                    <a:pt x="575553" y="299186"/>
                    <a:pt x="535878" y="299186"/>
                  </a:cubicBezTo>
                  <a:lnTo>
                    <a:pt x="149593" y="299186"/>
                  </a:lnTo>
                  <a:cubicBezTo>
                    <a:pt x="109918" y="299186"/>
                    <a:pt x="71869" y="283425"/>
                    <a:pt x="43815" y="255371"/>
                  </a:cubicBezTo>
                  <a:cubicBezTo>
                    <a:pt x="15761" y="227317"/>
                    <a:pt x="0" y="189267"/>
                    <a:pt x="0" y="149593"/>
                  </a:cubicBezTo>
                  <a:lnTo>
                    <a:pt x="0" y="149593"/>
                  </a:lnTo>
                  <a:cubicBezTo>
                    <a:pt x="0" y="109918"/>
                    <a:pt x="15761" y="71869"/>
                    <a:pt x="43815" y="43815"/>
                  </a:cubicBezTo>
                  <a:cubicBezTo>
                    <a:pt x="71869" y="15761"/>
                    <a:pt x="109918" y="0"/>
                    <a:pt x="1495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0" y="57150"/>
              <a:ext cx="685471" cy="2420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Prediction Output</a:t>
              </a:r>
              <a:endParaRPr/>
            </a:p>
          </p:txBody>
        </p:sp>
      </p:grpSp>
      <p:sp>
        <p:nvSpPr>
          <p:cNvPr id="229" name="Google Shape;229;p20"/>
          <p:cNvSpPr txBox="1"/>
          <p:nvPr/>
        </p:nvSpPr>
        <p:spPr>
          <a:xfrm>
            <a:off x="1028700" y="1902270"/>
            <a:ext cx="7155954" cy="1343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Solution Flow </a:t>
            </a:r>
            <a:r>
              <a:rPr b="1" i="0" lang="en-US" sz="7597" u="none" cap="none" strike="noStrik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 xml:space="preserve">. </a:t>
            </a:r>
            <a:endParaRPr/>
          </a:p>
          <a:p>
            <a:pPr indent="0" lvl="0" marL="0" marR="0" rtl="0" algn="l">
              <a:lnSpc>
                <a:spcPct val="33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597" u="none" cap="none" strike="noStrike">
              <a:solidFill>
                <a:srgbClr val="1497D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235" name="Google Shape;235;p21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6" name="Google Shape;236;p21"/>
          <p:cNvGrpSpPr/>
          <p:nvPr/>
        </p:nvGrpSpPr>
        <p:grpSpPr>
          <a:xfrm>
            <a:off x="1113756" y="3530943"/>
            <a:ext cx="11698816" cy="1721385"/>
            <a:chOff x="0" y="0"/>
            <a:chExt cx="3081170" cy="453369"/>
          </a:xfrm>
        </p:grpSpPr>
        <p:sp>
          <p:nvSpPr>
            <p:cNvPr id="237" name="Google Shape;237;p21"/>
            <p:cNvSpPr/>
            <p:nvPr/>
          </p:nvSpPr>
          <p:spPr>
            <a:xfrm>
              <a:off x="0" y="0"/>
              <a:ext cx="3081170" cy="453369"/>
            </a:xfrm>
            <a:custGeom>
              <a:rect b="b" l="l" r="r" t="t"/>
              <a:pathLst>
                <a:path extrusionOk="0" h="453369" w="308117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  <a:endParaRPr/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1113756" y="1980779"/>
            <a:ext cx="9486007" cy="1192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Expected Outcome </a:t>
            </a:r>
            <a:r>
              <a:rPr b="1" i="0" lang="en-US" sz="7597" u="none" cap="none" strike="noStrik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40" name="Google Shape;240;p21"/>
          <p:cNvGrpSpPr/>
          <p:nvPr/>
        </p:nvGrpSpPr>
        <p:grpSpPr>
          <a:xfrm>
            <a:off x="13138436" y="3530943"/>
            <a:ext cx="3687818" cy="1721385"/>
            <a:chOff x="0" y="0"/>
            <a:chExt cx="971277" cy="453369"/>
          </a:xfrm>
        </p:grpSpPr>
        <p:sp>
          <p:nvSpPr>
            <p:cNvPr id="241" name="Google Shape;241;p21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&gt; 95%</a:t>
              </a:r>
              <a:endParaRPr/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13138436" y="5454569"/>
            <a:ext cx="3687818" cy="1721385"/>
            <a:chOff x="0" y="0"/>
            <a:chExt cx="971277" cy="453369"/>
          </a:xfrm>
        </p:grpSpPr>
        <p:sp>
          <p:nvSpPr>
            <p:cNvPr id="244" name="Google Shape;244;p21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&lt; 1 Second</a:t>
              </a:r>
              <a:endParaRPr/>
            </a:p>
          </p:txBody>
        </p:sp>
      </p:grpSp>
      <p:grpSp>
        <p:nvGrpSpPr>
          <p:cNvPr id="246" name="Google Shape;246;p21"/>
          <p:cNvGrpSpPr/>
          <p:nvPr/>
        </p:nvGrpSpPr>
        <p:grpSpPr>
          <a:xfrm>
            <a:off x="1113756" y="5461877"/>
            <a:ext cx="11698816" cy="1721385"/>
            <a:chOff x="0" y="0"/>
            <a:chExt cx="3081170" cy="453369"/>
          </a:xfrm>
        </p:grpSpPr>
        <p:sp>
          <p:nvSpPr>
            <p:cNvPr id="247" name="Google Shape;247;p21"/>
            <p:cNvSpPr/>
            <p:nvPr/>
          </p:nvSpPr>
          <p:spPr>
            <a:xfrm>
              <a:off x="0" y="0"/>
              <a:ext cx="3081170" cy="453369"/>
            </a:xfrm>
            <a:custGeom>
              <a:rect b="b" l="l" r="r" t="t"/>
              <a:pathLst>
                <a:path extrusionOk="0" h="453369" w="308117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 xml:space="preserve">Prediction in </a:t>
              </a:r>
              <a:endParaRPr/>
            </a:p>
          </p:txBody>
        </p:sp>
      </p:grpSp>
      <p:grpSp>
        <p:nvGrpSpPr>
          <p:cNvPr id="249" name="Google Shape;249;p21"/>
          <p:cNvGrpSpPr/>
          <p:nvPr/>
        </p:nvGrpSpPr>
        <p:grpSpPr>
          <a:xfrm>
            <a:off x="13138436" y="7392812"/>
            <a:ext cx="3687818" cy="1721385"/>
            <a:chOff x="0" y="0"/>
            <a:chExt cx="971277" cy="453369"/>
          </a:xfrm>
        </p:grpSpPr>
        <p:sp>
          <p:nvSpPr>
            <p:cNvPr id="250" name="Google Shape;250;p21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&gt; 0.95</a:t>
              </a:r>
              <a:endParaRPr/>
            </a:p>
          </p:txBody>
        </p:sp>
      </p:grpSp>
      <p:grpSp>
        <p:nvGrpSpPr>
          <p:cNvPr id="252" name="Google Shape;252;p21"/>
          <p:cNvGrpSpPr/>
          <p:nvPr/>
        </p:nvGrpSpPr>
        <p:grpSpPr>
          <a:xfrm>
            <a:off x="1113756" y="7400121"/>
            <a:ext cx="11698816" cy="1721385"/>
            <a:chOff x="0" y="0"/>
            <a:chExt cx="3081170" cy="453369"/>
          </a:xfrm>
        </p:grpSpPr>
        <p:sp>
          <p:nvSpPr>
            <p:cNvPr id="253" name="Google Shape;253;p21"/>
            <p:cNvSpPr/>
            <p:nvPr/>
          </p:nvSpPr>
          <p:spPr>
            <a:xfrm>
              <a:off x="0" y="0"/>
              <a:ext cx="3081170" cy="453369"/>
            </a:xfrm>
            <a:custGeom>
              <a:rect b="b" l="l" r="r" t="t"/>
              <a:pathLst>
                <a:path extrusionOk="0" h="453369" w="308117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0" y="76200"/>
              <a:ext cx="3081170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ROC-AUC Score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0" t="0"/>
            </a:stretch>
          </a:blipFill>
          <a:ln>
            <a:noFill/>
          </a:ln>
        </p:spPr>
      </p:sp>
      <p:sp>
        <p:nvSpPr>
          <p:cNvPr id="260" name="Google Shape;260;p22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p22"/>
          <p:cNvGrpSpPr/>
          <p:nvPr/>
        </p:nvGrpSpPr>
        <p:grpSpPr>
          <a:xfrm>
            <a:off x="1113756" y="3530943"/>
            <a:ext cx="11699388" cy="1721397"/>
            <a:chOff x="0" y="0"/>
            <a:chExt cx="3081300" cy="453369"/>
          </a:xfrm>
        </p:grpSpPr>
        <p:sp>
          <p:nvSpPr>
            <p:cNvPr id="262" name="Google Shape;262;p22"/>
            <p:cNvSpPr/>
            <p:nvPr/>
          </p:nvSpPr>
          <p:spPr>
            <a:xfrm>
              <a:off x="0" y="0"/>
              <a:ext cx="3081170" cy="453369"/>
            </a:xfrm>
            <a:custGeom>
              <a:rect b="b" l="l" r="r" t="t"/>
              <a:pathLst>
                <a:path extrusionOk="0" h="453369" w="308117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2"/>
            <p:cNvSpPr txBox="1"/>
            <p:nvPr/>
          </p:nvSpPr>
          <p:spPr>
            <a:xfrm>
              <a:off x="0" y="76200"/>
              <a:ext cx="3081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Accuracy</a:t>
              </a:r>
              <a:endParaRPr/>
            </a:p>
          </p:txBody>
        </p:sp>
      </p:grpSp>
      <p:sp>
        <p:nvSpPr>
          <p:cNvPr id="264" name="Google Shape;264;p22"/>
          <p:cNvSpPr txBox="1"/>
          <p:nvPr/>
        </p:nvSpPr>
        <p:spPr>
          <a:xfrm>
            <a:off x="1113756" y="1980779"/>
            <a:ext cx="94860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97"/>
              <a:t xml:space="preserve">Actual </a:t>
            </a: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Outcome </a:t>
            </a:r>
            <a:r>
              <a:rPr b="1" i="0" lang="en-US" sz="7597" u="none" cap="none" strike="noStrike">
                <a:solidFill>
                  <a:srgbClr val="1497D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65" name="Google Shape;265;p22"/>
          <p:cNvGrpSpPr/>
          <p:nvPr/>
        </p:nvGrpSpPr>
        <p:grpSpPr>
          <a:xfrm>
            <a:off x="13138436" y="3530943"/>
            <a:ext cx="3688309" cy="1721397"/>
            <a:chOff x="0" y="0"/>
            <a:chExt cx="971400" cy="453369"/>
          </a:xfrm>
        </p:grpSpPr>
        <p:sp>
          <p:nvSpPr>
            <p:cNvPr id="266" name="Google Shape;266;p22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0" y="76200"/>
              <a:ext cx="971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97.17%</a:t>
              </a:r>
              <a:endParaRPr/>
            </a:p>
          </p:txBody>
        </p:sp>
      </p:grpSp>
      <p:grpSp>
        <p:nvGrpSpPr>
          <p:cNvPr id="268" name="Google Shape;268;p22"/>
          <p:cNvGrpSpPr/>
          <p:nvPr/>
        </p:nvGrpSpPr>
        <p:grpSpPr>
          <a:xfrm>
            <a:off x="13138436" y="5454569"/>
            <a:ext cx="3688309" cy="1721397"/>
            <a:chOff x="0" y="0"/>
            <a:chExt cx="971400" cy="453369"/>
          </a:xfrm>
        </p:grpSpPr>
        <p:sp>
          <p:nvSpPr>
            <p:cNvPr id="269" name="Google Shape;269;p22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 txBox="1"/>
            <p:nvPr/>
          </p:nvSpPr>
          <p:spPr>
            <a:xfrm>
              <a:off x="0" y="76200"/>
              <a:ext cx="971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&lt; 1 Second</a:t>
              </a:r>
              <a:endParaRPr/>
            </a:p>
          </p:txBody>
        </p:sp>
      </p:grpSp>
      <p:grpSp>
        <p:nvGrpSpPr>
          <p:cNvPr id="271" name="Google Shape;271;p22"/>
          <p:cNvGrpSpPr/>
          <p:nvPr/>
        </p:nvGrpSpPr>
        <p:grpSpPr>
          <a:xfrm>
            <a:off x="1113756" y="5461877"/>
            <a:ext cx="11699388" cy="1721397"/>
            <a:chOff x="0" y="0"/>
            <a:chExt cx="3081300" cy="453369"/>
          </a:xfrm>
        </p:grpSpPr>
        <p:sp>
          <p:nvSpPr>
            <p:cNvPr id="272" name="Google Shape;272;p22"/>
            <p:cNvSpPr/>
            <p:nvPr/>
          </p:nvSpPr>
          <p:spPr>
            <a:xfrm>
              <a:off x="0" y="0"/>
              <a:ext cx="3081170" cy="453369"/>
            </a:xfrm>
            <a:custGeom>
              <a:rect b="b" l="l" r="r" t="t"/>
              <a:pathLst>
                <a:path extrusionOk="0" h="453369" w="308117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2"/>
            <p:cNvSpPr txBox="1"/>
            <p:nvPr/>
          </p:nvSpPr>
          <p:spPr>
            <a:xfrm>
              <a:off x="0" y="76200"/>
              <a:ext cx="3081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 xml:space="preserve">Prediction in </a:t>
              </a:r>
              <a:endParaRPr/>
            </a:p>
          </p:txBody>
        </p:sp>
      </p:grpSp>
      <p:grpSp>
        <p:nvGrpSpPr>
          <p:cNvPr id="274" name="Google Shape;274;p22"/>
          <p:cNvGrpSpPr/>
          <p:nvPr/>
        </p:nvGrpSpPr>
        <p:grpSpPr>
          <a:xfrm>
            <a:off x="13138436" y="7392812"/>
            <a:ext cx="3688309" cy="1721397"/>
            <a:chOff x="0" y="0"/>
            <a:chExt cx="971400" cy="453369"/>
          </a:xfrm>
        </p:grpSpPr>
        <p:sp>
          <p:nvSpPr>
            <p:cNvPr id="275" name="Google Shape;275;p22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 txBox="1"/>
            <p:nvPr/>
          </p:nvSpPr>
          <p:spPr>
            <a:xfrm>
              <a:off x="0" y="76200"/>
              <a:ext cx="971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0.9676</a:t>
              </a:r>
              <a:endParaRPr/>
            </a:p>
          </p:txBody>
        </p:sp>
      </p:grpSp>
      <p:grpSp>
        <p:nvGrpSpPr>
          <p:cNvPr id="277" name="Google Shape;277;p22"/>
          <p:cNvGrpSpPr/>
          <p:nvPr/>
        </p:nvGrpSpPr>
        <p:grpSpPr>
          <a:xfrm>
            <a:off x="1113756" y="7400121"/>
            <a:ext cx="11699388" cy="1721397"/>
            <a:chOff x="0" y="0"/>
            <a:chExt cx="3081300" cy="453369"/>
          </a:xfrm>
        </p:grpSpPr>
        <p:sp>
          <p:nvSpPr>
            <p:cNvPr id="278" name="Google Shape;278;p22"/>
            <p:cNvSpPr/>
            <p:nvPr/>
          </p:nvSpPr>
          <p:spPr>
            <a:xfrm>
              <a:off x="0" y="0"/>
              <a:ext cx="3081170" cy="453369"/>
            </a:xfrm>
            <a:custGeom>
              <a:rect b="b" l="l" r="r" t="t"/>
              <a:pathLst>
                <a:path extrusionOk="0" h="453369" w="3081170">
                  <a:moveTo>
                    <a:pt x="14559" y="0"/>
                  </a:moveTo>
                  <a:lnTo>
                    <a:pt x="3066611" y="0"/>
                  </a:lnTo>
                  <a:cubicBezTo>
                    <a:pt x="3074651" y="0"/>
                    <a:pt x="3081170" y="6518"/>
                    <a:pt x="3081170" y="14559"/>
                  </a:cubicBezTo>
                  <a:lnTo>
                    <a:pt x="3081170" y="438810"/>
                  </a:lnTo>
                  <a:cubicBezTo>
                    <a:pt x="3081170" y="446851"/>
                    <a:pt x="3074651" y="453369"/>
                    <a:pt x="3066611" y="453369"/>
                  </a:cubicBezTo>
                  <a:lnTo>
                    <a:pt x="14559" y="453369"/>
                  </a:lnTo>
                  <a:cubicBezTo>
                    <a:pt x="6518" y="453369"/>
                    <a:pt x="0" y="446851"/>
                    <a:pt x="0" y="438810"/>
                  </a:cubicBezTo>
                  <a:lnTo>
                    <a:pt x="0" y="14559"/>
                  </a:lnTo>
                  <a:cubicBezTo>
                    <a:pt x="0" y="6518"/>
                    <a:pt x="6518" y="0"/>
                    <a:pt x="14559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 txBox="1"/>
            <p:nvPr/>
          </p:nvSpPr>
          <p:spPr>
            <a:xfrm>
              <a:off x="0" y="76200"/>
              <a:ext cx="3081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ROC-AUC Score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/>
          <p:nvPr/>
        </p:nvSpPr>
        <p:spPr>
          <a:xfrm>
            <a:off x="3333317" y="701930"/>
            <a:ext cx="2743124" cy="653540"/>
          </a:xfrm>
          <a:custGeom>
            <a:rect b="b" l="l" r="r" t="t"/>
            <a:pathLst>
              <a:path extrusionOk="0" h="653540" w="2743124">
                <a:moveTo>
                  <a:pt x="0" y="0"/>
                </a:moveTo>
                <a:lnTo>
                  <a:pt x="2743124" y="0"/>
                </a:lnTo>
                <a:lnTo>
                  <a:pt x="2743124" y="653540"/>
                </a:lnTo>
                <a:lnTo>
                  <a:pt x="0" y="65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381" t="0"/>
            </a:stretch>
          </a:blipFill>
          <a:ln>
            <a:noFill/>
          </a:ln>
        </p:spPr>
      </p:sp>
      <p:sp>
        <p:nvSpPr>
          <p:cNvPr id="285" name="Google Shape;285;p23"/>
          <p:cNvSpPr/>
          <p:nvPr/>
        </p:nvSpPr>
        <p:spPr>
          <a:xfrm>
            <a:off x="1028700" y="566709"/>
            <a:ext cx="2045960" cy="923982"/>
          </a:xfrm>
          <a:custGeom>
            <a:rect b="b" l="l" r="r" t="t"/>
            <a:pathLst>
              <a:path extrusionOk="0" h="923982" w="2045960">
                <a:moveTo>
                  <a:pt x="0" y="0"/>
                </a:moveTo>
                <a:lnTo>
                  <a:pt x="2045960" y="0"/>
                </a:lnTo>
                <a:lnTo>
                  <a:pt x="2045960" y="923982"/>
                </a:lnTo>
                <a:lnTo>
                  <a:pt x="0" y="92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6" name="Google Shape;286;p23"/>
          <p:cNvGrpSpPr/>
          <p:nvPr/>
        </p:nvGrpSpPr>
        <p:grpSpPr>
          <a:xfrm>
            <a:off x="1113756" y="3530943"/>
            <a:ext cx="6453404" cy="1721385"/>
            <a:chOff x="0" y="0"/>
            <a:chExt cx="1699662" cy="453369"/>
          </a:xfrm>
        </p:grpSpPr>
        <p:sp>
          <p:nvSpPr>
            <p:cNvPr id="287" name="Google Shape;287;p23"/>
            <p:cNvSpPr/>
            <p:nvPr/>
          </p:nvSpPr>
          <p:spPr>
            <a:xfrm>
              <a:off x="0" y="0"/>
              <a:ext cx="1699662" cy="453369"/>
            </a:xfrm>
            <a:custGeom>
              <a:rect b="b" l="l" r="r" t="t"/>
              <a:pathLst>
                <a:path extrusionOk="0" h="453369" w="1699662">
                  <a:moveTo>
                    <a:pt x="26393" y="0"/>
                  </a:moveTo>
                  <a:lnTo>
                    <a:pt x="1673269" y="0"/>
                  </a:lnTo>
                  <a:cubicBezTo>
                    <a:pt x="1687846" y="0"/>
                    <a:pt x="1699662" y="11816"/>
                    <a:pt x="1699662" y="26393"/>
                  </a:cubicBezTo>
                  <a:lnTo>
                    <a:pt x="1699662" y="426976"/>
                  </a:lnTo>
                  <a:cubicBezTo>
                    <a:pt x="1699662" y="441552"/>
                    <a:pt x="1687846" y="453369"/>
                    <a:pt x="1673269" y="453369"/>
                  </a:cubicBezTo>
                  <a:lnTo>
                    <a:pt x="26393" y="453369"/>
                  </a:lnTo>
                  <a:cubicBezTo>
                    <a:pt x="11816" y="453369"/>
                    <a:pt x="0" y="441552"/>
                    <a:pt x="0" y="426976"/>
                  </a:cubicBezTo>
                  <a:lnTo>
                    <a:pt x="0" y="26393"/>
                  </a:lnTo>
                  <a:cubicBezTo>
                    <a:pt x="0" y="11816"/>
                    <a:pt x="11816" y="0"/>
                    <a:pt x="263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3"/>
            <p:cNvSpPr txBox="1"/>
            <p:nvPr/>
          </p:nvSpPr>
          <p:spPr>
            <a:xfrm>
              <a:off x="0" y="76200"/>
              <a:ext cx="1699662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Reduces time from</a:t>
              </a:r>
              <a:endParaRPr/>
            </a:p>
          </p:txBody>
        </p:sp>
      </p:grpSp>
      <p:sp>
        <p:nvSpPr>
          <p:cNvPr id="289" name="Google Shape;289;p23"/>
          <p:cNvSpPr txBox="1"/>
          <p:nvPr/>
        </p:nvSpPr>
        <p:spPr>
          <a:xfrm>
            <a:off x="1113756" y="1980779"/>
            <a:ext cx="3817888" cy="1192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Impact </a:t>
            </a:r>
            <a:r>
              <a:rPr b="1" i="0" lang="en-US" sz="7597" u="none" cap="none" strike="noStrike">
                <a:solidFill>
                  <a:srgbClr val="ED323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90" name="Google Shape;290;p23"/>
          <p:cNvGrpSpPr/>
          <p:nvPr/>
        </p:nvGrpSpPr>
        <p:grpSpPr>
          <a:xfrm>
            <a:off x="7752018" y="3521418"/>
            <a:ext cx="3687818" cy="1721385"/>
            <a:chOff x="0" y="0"/>
            <a:chExt cx="971277" cy="453369"/>
          </a:xfrm>
        </p:grpSpPr>
        <p:sp>
          <p:nvSpPr>
            <p:cNvPr id="291" name="Google Shape;291;p23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Manual Screening (Days)</a:t>
              </a:r>
              <a:endParaRPr/>
            </a:p>
          </p:txBody>
        </p:sp>
      </p:grpSp>
      <p:grpSp>
        <p:nvGrpSpPr>
          <p:cNvPr id="293" name="Google Shape;293;p23"/>
          <p:cNvGrpSpPr/>
          <p:nvPr/>
        </p:nvGrpSpPr>
        <p:grpSpPr>
          <a:xfrm>
            <a:off x="11620811" y="3504584"/>
            <a:ext cx="1191761" cy="1721385"/>
            <a:chOff x="0" y="0"/>
            <a:chExt cx="313880" cy="453369"/>
          </a:xfrm>
        </p:grpSpPr>
        <p:sp>
          <p:nvSpPr>
            <p:cNvPr id="294" name="Google Shape;294;p23"/>
            <p:cNvSpPr/>
            <p:nvPr/>
          </p:nvSpPr>
          <p:spPr>
            <a:xfrm>
              <a:off x="0" y="0"/>
              <a:ext cx="313880" cy="453369"/>
            </a:xfrm>
            <a:custGeom>
              <a:rect b="b" l="l" r="r" t="t"/>
              <a:pathLst>
                <a:path extrusionOk="0" h="453369" w="313880">
                  <a:moveTo>
                    <a:pt x="142916" y="0"/>
                  </a:moveTo>
                  <a:lnTo>
                    <a:pt x="170963" y="0"/>
                  </a:lnTo>
                  <a:cubicBezTo>
                    <a:pt x="208867" y="0"/>
                    <a:pt x="245218" y="15057"/>
                    <a:pt x="272020" y="41859"/>
                  </a:cubicBezTo>
                  <a:cubicBezTo>
                    <a:pt x="298822" y="68661"/>
                    <a:pt x="313880" y="105013"/>
                    <a:pt x="313880" y="142916"/>
                  </a:cubicBezTo>
                  <a:lnTo>
                    <a:pt x="313880" y="310452"/>
                  </a:lnTo>
                  <a:cubicBezTo>
                    <a:pt x="313880" y="389383"/>
                    <a:pt x="249894" y="453369"/>
                    <a:pt x="170963" y="453369"/>
                  </a:cubicBezTo>
                  <a:lnTo>
                    <a:pt x="142916" y="453369"/>
                  </a:lnTo>
                  <a:cubicBezTo>
                    <a:pt x="63986" y="453369"/>
                    <a:pt x="0" y="389383"/>
                    <a:pt x="0" y="310452"/>
                  </a:cubicBezTo>
                  <a:lnTo>
                    <a:pt x="0" y="142916"/>
                  </a:lnTo>
                  <a:cubicBezTo>
                    <a:pt x="0" y="63986"/>
                    <a:pt x="63986" y="0"/>
                    <a:pt x="142916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3"/>
            <p:cNvSpPr txBox="1"/>
            <p:nvPr/>
          </p:nvSpPr>
          <p:spPr>
            <a:xfrm>
              <a:off x="0" y="76200"/>
              <a:ext cx="313880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12993547" y="3530943"/>
            <a:ext cx="3687818" cy="1721385"/>
            <a:chOff x="0" y="0"/>
            <a:chExt cx="971277" cy="453369"/>
          </a:xfrm>
        </p:grpSpPr>
        <p:sp>
          <p:nvSpPr>
            <p:cNvPr id="297" name="Google Shape;297;p23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ML Prediction (Seconds)</a:t>
              </a:r>
              <a:endParaRPr/>
            </a:p>
          </p:txBody>
        </p:sp>
      </p:grpSp>
      <p:grpSp>
        <p:nvGrpSpPr>
          <p:cNvPr id="299" name="Google Shape;299;p23"/>
          <p:cNvGrpSpPr/>
          <p:nvPr/>
        </p:nvGrpSpPr>
        <p:grpSpPr>
          <a:xfrm>
            <a:off x="1113756" y="5612061"/>
            <a:ext cx="6453404" cy="1721385"/>
            <a:chOff x="0" y="0"/>
            <a:chExt cx="1699662" cy="453369"/>
          </a:xfrm>
        </p:grpSpPr>
        <p:sp>
          <p:nvSpPr>
            <p:cNvPr id="300" name="Google Shape;300;p23"/>
            <p:cNvSpPr/>
            <p:nvPr/>
          </p:nvSpPr>
          <p:spPr>
            <a:xfrm>
              <a:off x="0" y="0"/>
              <a:ext cx="1699662" cy="453369"/>
            </a:xfrm>
            <a:custGeom>
              <a:rect b="b" l="l" r="r" t="t"/>
              <a:pathLst>
                <a:path extrusionOk="0" h="453369" w="1699662">
                  <a:moveTo>
                    <a:pt x="26393" y="0"/>
                  </a:moveTo>
                  <a:lnTo>
                    <a:pt x="1673269" y="0"/>
                  </a:lnTo>
                  <a:cubicBezTo>
                    <a:pt x="1687846" y="0"/>
                    <a:pt x="1699662" y="11816"/>
                    <a:pt x="1699662" y="26393"/>
                  </a:cubicBezTo>
                  <a:lnTo>
                    <a:pt x="1699662" y="426976"/>
                  </a:lnTo>
                  <a:cubicBezTo>
                    <a:pt x="1699662" y="441552"/>
                    <a:pt x="1687846" y="453369"/>
                    <a:pt x="1673269" y="453369"/>
                  </a:cubicBezTo>
                  <a:lnTo>
                    <a:pt x="26393" y="453369"/>
                  </a:lnTo>
                  <a:cubicBezTo>
                    <a:pt x="11816" y="453369"/>
                    <a:pt x="0" y="441552"/>
                    <a:pt x="0" y="426976"/>
                  </a:cubicBezTo>
                  <a:lnTo>
                    <a:pt x="0" y="26393"/>
                  </a:lnTo>
                  <a:cubicBezTo>
                    <a:pt x="0" y="11816"/>
                    <a:pt x="11816" y="0"/>
                    <a:pt x="263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3"/>
            <p:cNvSpPr txBox="1"/>
            <p:nvPr/>
          </p:nvSpPr>
          <p:spPr>
            <a:xfrm>
              <a:off x="0" y="76200"/>
              <a:ext cx="1699662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Reduces time from</a:t>
              </a:r>
              <a:endParaRPr/>
            </a:p>
          </p:txBody>
        </p:sp>
      </p:grpSp>
      <p:grpSp>
        <p:nvGrpSpPr>
          <p:cNvPr id="302" name="Google Shape;302;p23"/>
          <p:cNvGrpSpPr/>
          <p:nvPr/>
        </p:nvGrpSpPr>
        <p:grpSpPr>
          <a:xfrm>
            <a:off x="7752018" y="5602536"/>
            <a:ext cx="3687818" cy="1721385"/>
            <a:chOff x="0" y="0"/>
            <a:chExt cx="971277" cy="453369"/>
          </a:xfrm>
        </p:grpSpPr>
        <p:sp>
          <p:nvSpPr>
            <p:cNvPr id="303" name="Google Shape;303;p23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Missed Diagnoses</a:t>
              </a:r>
              <a:endParaRPr/>
            </a:p>
          </p:txBody>
        </p:sp>
      </p:grpSp>
      <p:grpSp>
        <p:nvGrpSpPr>
          <p:cNvPr id="305" name="Google Shape;305;p23"/>
          <p:cNvGrpSpPr/>
          <p:nvPr/>
        </p:nvGrpSpPr>
        <p:grpSpPr>
          <a:xfrm>
            <a:off x="11620811" y="5585702"/>
            <a:ext cx="1191761" cy="1721385"/>
            <a:chOff x="0" y="0"/>
            <a:chExt cx="313880" cy="453369"/>
          </a:xfrm>
        </p:grpSpPr>
        <p:sp>
          <p:nvSpPr>
            <p:cNvPr id="306" name="Google Shape;306;p23"/>
            <p:cNvSpPr/>
            <p:nvPr/>
          </p:nvSpPr>
          <p:spPr>
            <a:xfrm>
              <a:off x="0" y="0"/>
              <a:ext cx="313880" cy="453369"/>
            </a:xfrm>
            <a:custGeom>
              <a:rect b="b" l="l" r="r" t="t"/>
              <a:pathLst>
                <a:path extrusionOk="0" h="453369" w="313880">
                  <a:moveTo>
                    <a:pt x="142916" y="0"/>
                  </a:moveTo>
                  <a:lnTo>
                    <a:pt x="170963" y="0"/>
                  </a:lnTo>
                  <a:cubicBezTo>
                    <a:pt x="208867" y="0"/>
                    <a:pt x="245218" y="15057"/>
                    <a:pt x="272020" y="41859"/>
                  </a:cubicBezTo>
                  <a:cubicBezTo>
                    <a:pt x="298822" y="68661"/>
                    <a:pt x="313880" y="105013"/>
                    <a:pt x="313880" y="142916"/>
                  </a:cubicBezTo>
                  <a:lnTo>
                    <a:pt x="313880" y="310452"/>
                  </a:lnTo>
                  <a:cubicBezTo>
                    <a:pt x="313880" y="389383"/>
                    <a:pt x="249894" y="453369"/>
                    <a:pt x="170963" y="453369"/>
                  </a:cubicBezTo>
                  <a:lnTo>
                    <a:pt x="142916" y="453369"/>
                  </a:lnTo>
                  <a:cubicBezTo>
                    <a:pt x="63986" y="453369"/>
                    <a:pt x="0" y="389383"/>
                    <a:pt x="0" y="310452"/>
                  </a:cubicBezTo>
                  <a:lnTo>
                    <a:pt x="0" y="142916"/>
                  </a:lnTo>
                  <a:cubicBezTo>
                    <a:pt x="0" y="63986"/>
                    <a:pt x="63986" y="0"/>
                    <a:pt x="142916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0" y="76200"/>
              <a:ext cx="313880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</p:txBody>
        </p:sp>
      </p:grpSp>
      <p:grpSp>
        <p:nvGrpSpPr>
          <p:cNvPr id="308" name="Google Shape;308;p23"/>
          <p:cNvGrpSpPr/>
          <p:nvPr/>
        </p:nvGrpSpPr>
        <p:grpSpPr>
          <a:xfrm>
            <a:off x="12993547" y="5612061"/>
            <a:ext cx="3687818" cy="1721385"/>
            <a:chOff x="0" y="0"/>
            <a:chExt cx="971277" cy="453369"/>
          </a:xfrm>
        </p:grpSpPr>
        <p:sp>
          <p:nvSpPr>
            <p:cNvPr id="309" name="Google Shape;309;p23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97.17% Accuracy</a:t>
              </a:r>
              <a:endParaRPr/>
            </a:p>
          </p:txBody>
        </p:sp>
      </p:grpSp>
      <p:grpSp>
        <p:nvGrpSpPr>
          <p:cNvPr id="311" name="Google Shape;311;p23"/>
          <p:cNvGrpSpPr/>
          <p:nvPr/>
        </p:nvGrpSpPr>
        <p:grpSpPr>
          <a:xfrm>
            <a:off x="1113756" y="7693180"/>
            <a:ext cx="6453404" cy="1721385"/>
            <a:chOff x="0" y="0"/>
            <a:chExt cx="1699662" cy="453369"/>
          </a:xfrm>
        </p:grpSpPr>
        <p:sp>
          <p:nvSpPr>
            <p:cNvPr id="312" name="Google Shape;312;p23"/>
            <p:cNvSpPr/>
            <p:nvPr/>
          </p:nvSpPr>
          <p:spPr>
            <a:xfrm>
              <a:off x="0" y="0"/>
              <a:ext cx="1699662" cy="453369"/>
            </a:xfrm>
            <a:custGeom>
              <a:rect b="b" l="l" r="r" t="t"/>
              <a:pathLst>
                <a:path extrusionOk="0" h="453369" w="1699662">
                  <a:moveTo>
                    <a:pt x="26393" y="0"/>
                  </a:moveTo>
                  <a:lnTo>
                    <a:pt x="1673269" y="0"/>
                  </a:lnTo>
                  <a:cubicBezTo>
                    <a:pt x="1687846" y="0"/>
                    <a:pt x="1699662" y="11816"/>
                    <a:pt x="1699662" y="26393"/>
                  </a:cubicBezTo>
                  <a:lnTo>
                    <a:pt x="1699662" y="426976"/>
                  </a:lnTo>
                  <a:cubicBezTo>
                    <a:pt x="1699662" y="441552"/>
                    <a:pt x="1687846" y="453369"/>
                    <a:pt x="1673269" y="453369"/>
                  </a:cubicBezTo>
                  <a:lnTo>
                    <a:pt x="26393" y="453369"/>
                  </a:lnTo>
                  <a:cubicBezTo>
                    <a:pt x="11816" y="453369"/>
                    <a:pt x="0" y="441552"/>
                    <a:pt x="0" y="426976"/>
                  </a:cubicBezTo>
                  <a:lnTo>
                    <a:pt x="0" y="26393"/>
                  </a:lnTo>
                  <a:cubicBezTo>
                    <a:pt x="0" y="11816"/>
                    <a:pt x="11816" y="0"/>
                    <a:pt x="26393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0" y="76200"/>
              <a:ext cx="1699662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Reduces time from</a:t>
              </a:r>
              <a:endParaRPr/>
            </a:p>
          </p:txBody>
        </p:sp>
      </p:grpSp>
      <p:grpSp>
        <p:nvGrpSpPr>
          <p:cNvPr id="314" name="Google Shape;314;p23"/>
          <p:cNvGrpSpPr/>
          <p:nvPr/>
        </p:nvGrpSpPr>
        <p:grpSpPr>
          <a:xfrm>
            <a:off x="7752018" y="7683655"/>
            <a:ext cx="3687818" cy="1721385"/>
            <a:chOff x="0" y="0"/>
            <a:chExt cx="971277" cy="453369"/>
          </a:xfrm>
        </p:grpSpPr>
        <p:sp>
          <p:nvSpPr>
            <p:cNvPr id="315" name="Google Shape;315;p23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Unknown Patient Risk</a:t>
              </a:r>
              <a:endParaRPr/>
            </a:p>
          </p:txBody>
        </p:sp>
      </p:grpSp>
      <p:grpSp>
        <p:nvGrpSpPr>
          <p:cNvPr id="317" name="Google Shape;317;p23"/>
          <p:cNvGrpSpPr/>
          <p:nvPr/>
        </p:nvGrpSpPr>
        <p:grpSpPr>
          <a:xfrm>
            <a:off x="11620811" y="7666821"/>
            <a:ext cx="1191761" cy="1721385"/>
            <a:chOff x="0" y="0"/>
            <a:chExt cx="313880" cy="453369"/>
          </a:xfrm>
        </p:grpSpPr>
        <p:sp>
          <p:nvSpPr>
            <p:cNvPr id="318" name="Google Shape;318;p23"/>
            <p:cNvSpPr/>
            <p:nvPr/>
          </p:nvSpPr>
          <p:spPr>
            <a:xfrm>
              <a:off x="0" y="0"/>
              <a:ext cx="313880" cy="453369"/>
            </a:xfrm>
            <a:custGeom>
              <a:rect b="b" l="l" r="r" t="t"/>
              <a:pathLst>
                <a:path extrusionOk="0" h="453369" w="313880">
                  <a:moveTo>
                    <a:pt x="142916" y="0"/>
                  </a:moveTo>
                  <a:lnTo>
                    <a:pt x="170963" y="0"/>
                  </a:lnTo>
                  <a:cubicBezTo>
                    <a:pt x="208867" y="0"/>
                    <a:pt x="245218" y="15057"/>
                    <a:pt x="272020" y="41859"/>
                  </a:cubicBezTo>
                  <a:cubicBezTo>
                    <a:pt x="298822" y="68661"/>
                    <a:pt x="313880" y="105013"/>
                    <a:pt x="313880" y="142916"/>
                  </a:cubicBezTo>
                  <a:lnTo>
                    <a:pt x="313880" y="310452"/>
                  </a:lnTo>
                  <a:cubicBezTo>
                    <a:pt x="313880" y="389383"/>
                    <a:pt x="249894" y="453369"/>
                    <a:pt x="170963" y="453369"/>
                  </a:cubicBezTo>
                  <a:lnTo>
                    <a:pt x="142916" y="453369"/>
                  </a:lnTo>
                  <a:cubicBezTo>
                    <a:pt x="63986" y="453369"/>
                    <a:pt x="0" y="389383"/>
                    <a:pt x="0" y="310452"/>
                  </a:cubicBezTo>
                  <a:lnTo>
                    <a:pt x="0" y="142916"/>
                  </a:lnTo>
                  <a:cubicBezTo>
                    <a:pt x="0" y="63986"/>
                    <a:pt x="63986" y="0"/>
                    <a:pt x="142916" y="0"/>
                  </a:cubicBezTo>
                  <a:close/>
                </a:path>
              </a:pathLst>
            </a:custGeom>
            <a:solidFill>
              <a:srgbClr val="284B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3"/>
            <p:cNvSpPr txBox="1"/>
            <p:nvPr/>
          </p:nvSpPr>
          <p:spPr>
            <a:xfrm>
              <a:off x="0" y="76200"/>
              <a:ext cx="313880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FEA928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</p:txBody>
        </p:sp>
      </p:grpSp>
      <p:grpSp>
        <p:nvGrpSpPr>
          <p:cNvPr id="320" name="Google Shape;320;p23"/>
          <p:cNvGrpSpPr/>
          <p:nvPr/>
        </p:nvGrpSpPr>
        <p:grpSpPr>
          <a:xfrm>
            <a:off x="12993547" y="7693180"/>
            <a:ext cx="3687818" cy="1721385"/>
            <a:chOff x="0" y="0"/>
            <a:chExt cx="971277" cy="453369"/>
          </a:xfrm>
        </p:grpSpPr>
        <p:sp>
          <p:nvSpPr>
            <p:cNvPr id="321" name="Google Shape;321;p23"/>
            <p:cNvSpPr/>
            <p:nvPr/>
          </p:nvSpPr>
          <p:spPr>
            <a:xfrm>
              <a:off x="0" y="0"/>
              <a:ext cx="971277" cy="453369"/>
            </a:xfrm>
            <a:custGeom>
              <a:rect b="b" l="l" r="r" t="t"/>
              <a:pathLst>
                <a:path extrusionOk="0" h="453369" w="971277">
                  <a:moveTo>
                    <a:pt x="46185" y="0"/>
                  </a:moveTo>
                  <a:lnTo>
                    <a:pt x="925092" y="0"/>
                  </a:lnTo>
                  <a:cubicBezTo>
                    <a:pt x="950599" y="0"/>
                    <a:pt x="971277" y="20678"/>
                    <a:pt x="971277" y="46185"/>
                  </a:cubicBezTo>
                  <a:lnTo>
                    <a:pt x="971277" y="407184"/>
                  </a:lnTo>
                  <a:cubicBezTo>
                    <a:pt x="971277" y="419433"/>
                    <a:pt x="966411" y="431180"/>
                    <a:pt x="957750" y="439842"/>
                  </a:cubicBezTo>
                  <a:cubicBezTo>
                    <a:pt x="949089" y="448503"/>
                    <a:pt x="937341" y="453369"/>
                    <a:pt x="925092" y="453369"/>
                  </a:cubicBezTo>
                  <a:lnTo>
                    <a:pt x="46185" y="453369"/>
                  </a:lnTo>
                  <a:cubicBezTo>
                    <a:pt x="20678" y="453369"/>
                    <a:pt x="0" y="432691"/>
                    <a:pt x="0" y="407184"/>
                  </a:cubicBezTo>
                  <a:lnTo>
                    <a:pt x="0" y="46185"/>
                  </a:lnTo>
                  <a:cubicBezTo>
                    <a:pt x="0" y="20678"/>
                    <a:pt x="20678" y="0"/>
                    <a:pt x="46185" y="0"/>
                  </a:cubicBezTo>
                  <a:close/>
                </a:path>
              </a:pathLst>
            </a:custGeom>
            <a:solidFill>
              <a:srgbClr val="FEA9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0" y="76200"/>
              <a:ext cx="971277" cy="37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1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3" u="none" cap="none" strike="noStrike">
                  <a:solidFill>
                    <a:srgbClr val="284B71"/>
                  </a:solidFill>
                  <a:latin typeface="Arial"/>
                  <a:ea typeface="Arial"/>
                  <a:cs typeface="Arial"/>
                  <a:sym typeface="Arial"/>
                </a:rPr>
                <a:t>Clear Risk Score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